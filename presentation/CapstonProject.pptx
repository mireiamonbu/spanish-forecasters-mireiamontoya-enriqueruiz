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3" r:id="rId5"/>
    <p:sldId id="259" r:id="rId6"/>
    <p:sldId id="261" r:id="rId7"/>
    <p:sldId id="262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60" d="100"/>
          <a:sy n="60" d="100"/>
        </p:scale>
        <p:origin x="-312" y="41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209506-3838-B9DB-188B-B8BE9E2A7C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49EBE80-7670-9D2E-FC3C-B9FFA95AEC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EDE5C56-0F12-F54E-40B6-FD2368986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30/12/2025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E060621-99F8-F273-1B65-AA4552207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11626BE-93BE-C335-33A8-7EE91105C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9613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E1F159-547A-C66A-18E8-6F4DA66A6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D234C59-4348-1C7E-D6E1-F5995C7BC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51C34EB-8ED9-0B92-9D18-646FED6A9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30/12/2025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4B4143A-699B-D2D4-F9D8-98EA00634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FF64A5B-F057-1899-33BC-1B53F259D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5038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1D57EE-2E3F-78B0-C115-5F6B00E7A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383BE68-EA12-38E8-1E4F-9B906A1F89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D756A73-7A9E-615C-6393-E6F6B88A2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30/12/2025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2F6152-8900-D706-E3F5-116E7A8D1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02715DD-320C-A4FE-63B8-589A02B99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84066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043E64-F6DB-D5F8-E62F-D828C46E8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D34E4DC-6D8D-AB32-41FD-C986762CD8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CCA2DB3-9C66-A462-C308-7A57B2B2D5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B7D6BD7-228D-FDC4-6D08-0BC706FC8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30/12/2025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12D4964-4F1C-A423-62F2-7675CEAE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D4312AD-4BAC-5F28-F2C5-10F30E8B8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5960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443854-2205-9A89-94B1-E2B3B1AFA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35DFAB7-4FA7-82F3-63A9-9B26FE696A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E3DCFC8-F4AB-47D7-B2A0-226810AE78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D37CAE76-6EC0-6008-9490-8FF73C1958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16259B5-7F36-34A1-06FA-7D1DE6C728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CA474E61-B68B-5649-E561-D569B41B8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30/12/2025</a:t>
            </a:fld>
            <a:endParaRPr lang="en-GB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4B234976-B882-B362-B26D-F31B0A951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4DB288CD-90E0-C4E4-9362-DB1FB5D1B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2825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7A92CF-E4EF-8BBA-3465-523BF9B0D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51818A9-EF49-0344-8F5D-CA5117FCC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30/12/2025</a:t>
            </a:fld>
            <a:endParaRPr lang="en-GB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8F37F25-AB01-F98C-49D0-116288929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68BFA8D-6275-C768-C272-DC312DE70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15677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44A8BE2F-EA2A-F9DC-41D2-3D9CB443A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30/12/2025</a:t>
            </a:fld>
            <a:endParaRPr lang="en-GB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9CCB02A-9BAD-D423-2697-D7E4709F3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25DDD53-8988-3C7C-5FEB-72A33A043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07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8BB546-D01A-B38A-A790-48B4ABE83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DFF7326-5813-04DD-8B79-A2F881B3CF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41DBCF5-B24A-5729-23C9-4C9CE1B935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EEF1A4E-3229-6801-C2E9-B1665DC84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30/12/2025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18A5267-B0B9-E96E-D78D-318AA2919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1A92FB9-3E1F-73CD-B936-20261FDE3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4916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8A1B9D-2C86-9FC6-F102-313C97704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13897A5-67E4-D7AB-ED5F-6387B6E6D1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D16A3F8-9FC0-7943-EC27-BC0A509916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60576D6-3D91-32FB-C361-E471CB246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30/12/2025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5F3E50A-1685-73FB-C5BA-60DE22D78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46578C0-48BD-AA93-DED8-1958C6640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6402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D519A9-5DAF-D3DB-6236-187CF0D98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529126A-884E-87A2-5CA1-7928837950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C99097E-3281-2462-D25B-E891975668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30/12/2025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B0EDF42-1CA7-1AF5-3248-FDC5AE7CF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844F1EC-F5EA-612D-59F1-1B0C3D162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165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06FB9EE-5829-E22A-C847-3BEC8A0A4C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F8E8BAF-7D7C-3A47-707A-C9D6695EEE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CD6F70E-2C61-765D-465B-08247568A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30/12/2025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80D1A55-3FDD-1EC1-6463-7EEC4E2D7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5BCDF0-E29E-1077-77AD-BBCE5E4B4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598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85D735E-226F-673D-B258-56093EAB7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D30E5BD-52FD-8D85-38BA-2D2A03F09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43A931E-B444-A338-D0C0-7BCDB996E8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BFD437-33C7-4B24-B6C7-F91A3EACF5E2}" type="datetimeFigureOut">
              <a:rPr lang="en-GB" smtClean="0"/>
              <a:t>30/12/2025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B97DB7D-B08A-BA8A-D9BD-3CE0CF1D42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8D3497B-F224-1D0F-B100-A776D691DD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2499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4817C8-D649-CE1A-DBBC-856DA9F6E2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Forecasting Daily Electricity Generation in Spain </a:t>
            </a:r>
            <a:endParaRPr lang="en-GB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7C307ED-4B8A-8525-E6FF-511BA5EF6E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/>
              <a:t>Capstone Forecasting Project</a:t>
            </a:r>
          </a:p>
          <a:p>
            <a:r>
              <a:rPr lang="en-GB"/>
              <a:t>Time Series Analysis</a:t>
            </a:r>
          </a:p>
          <a:p>
            <a:r>
              <a:rPr lang="en-GB"/>
              <a:t>Team: Spanish Forecasters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81777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7C6E7F-E335-FF39-BC2D-8AD08573E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Team &amp; Contributions. REVISAR LO DE CADA UNO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9F21CB2-11F2-98CB-E598-0E906090B73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Enrique Ruiz:</a:t>
            </a:r>
          </a:p>
          <a:p>
            <a:pPr lvl="1"/>
            <a:r>
              <a:rPr lang="en-GB" dirty="0"/>
              <a:t>Main Coding</a:t>
            </a:r>
          </a:p>
          <a:p>
            <a:pPr lvl="1"/>
            <a:r>
              <a:rPr lang="en-GB" dirty="0"/>
              <a:t>Data parsing/cleaning</a:t>
            </a:r>
          </a:p>
          <a:p>
            <a:pPr lvl="1"/>
            <a:r>
              <a:rPr lang="en-GB" dirty="0"/>
              <a:t>Modelling </a:t>
            </a:r>
          </a:p>
          <a:p>
            <a:pPr lvl="1"/>
            <a:r>
              <a:rPr lang="en-GB" dirty="0"/>
              <a:t>Evaluation </a:t>
            </a:r>
          </a:p>
          <a:p>
            <a:pPr lvl="1"/>
            <a:r>
              <a:rPr lang="en-GB" dirty="0"/>
              <a:t>Plots</a:t>
            </a:r>
          </a:p>
          <a:p>
            <a:pPr lvl="1"/>
            <a:r>
              <a:rPr lang="en-GB" dirty="0"/>
              <a:t>Final </a:t>
            </a:r>
          </a:p>
          <a:p>
            <a:endParaRPr lang="en-GB" dirty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CD08206-EE7A-3E02-0120-39AE8E2E906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dirty="0"/>
              <a:t>Mireia Montoya:</a:t>
            </a:r>
          </a:p>
          <a:p>
            <a:pPr lvl="1"/>
            <a:r>
              <a:rPr lang="en-GB" dirty="0"/>
              <a:t>Documentation support </a:t>
            </a:r>
          </a:p>
          <a:p>
            <a:pPr lvl="1"/>
            <a:r>
              <a:rPr lang="en-GB" dirty="0"/>
              <a:t>Slide deck</a:t>
            </a:r>
          </a:p>
          <a:p>
            <a:pPr lvl="1"/>
            <a:r>
              <a:rPr lang="en-GB" dirty="0"/>
              <a:t>Interpretation of results</a:t>
            </a:r>
          </a:p>
          <a:p>
            <a:pPr lvl="1"/>
            <a:r>
              <a:rPr lang="en-GB" dirty="0"/>
              <a:t>Business value</a:t>
            </a:r>
          </a:p>
          <a:p>
            <a:pPr lvl="1"/>
            <a:r>
              <a:rPr lang="en-GB" dirty="0"/>
              <a:t>Presentation speaking roles</a:t>
            </a:r>
          </a:p>
        </p:txBody>
      </p:sp>
    </p:spTree>
    <p:extLst>
      <p:ext uri="{BB962C8B-B14F-4D97-AF65-F5344CB8AC3E}">
        <p14:creationId xmlns:p14="http://schemas.microsoft.com/office/powerpoint/2010/main" val="21497757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2C3630-63D1-4ABA-5E90-228527877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736767"/>
            <a:ext cx="3932237" cy="501316"/>
          </a:xfrm>
        </p:spPr>
        <p:txBody>
          <a:bodyPr>
            <a:normAutofit fontScale="90000"/>
          </a:bodyPr>
          <a:lstStyle/>
          <a:p>
            <a:r>
              <a:rPr lang="en-GB" b="1" dirty="0"/>
              <a:t>Business Problem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BF114C0-C700-0A15-B440-C847219496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 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0F08160-F46B-2EA8-0115-2429FF46C6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363580"/>
            <a:ext cx="3932237" cy="3994484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Problem: </a:t>
            </a:r>
            <a:r>
              <a:rPr lang="en-GB" dirty="0"/>
              <a:t>Electricity generation varies due to the weather, demand or seasonality. This creates uncertainty for system planning.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Goal: </a:t>
            </a:r>
            <a:r>
              <a:rPr lang="en-GB" dirty="0"/>
              <a:t>Forecast daily electricity generation for Spain by production technology for January 2026. CAMBIAR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pic>
        <p:nvPicPr>
          <p:cNvPr id="6" name="Imagen 5" descr="Gráfico&#10;&#10;El contenido generado por IA puede ser incorrecto.">
            <a:extLst>
              <a:ext uri="{FF2B5EF4-FFF2-40B4-BE49-F238E27FC236}">
                <a16:creationId xmlns:a16="http://schemas.microsoft.com/office/drawing/2014/main" id="{0ABE41F3-A217-D9FB-3780-61E5B5AD27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2025" y="1363580"/>
            <a:ext cx="6756744" cy="335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395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770FDD-F60D-CD86-6B5D-42D104681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Why Forecasting Matters?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B0D5D11-1F12-A2BB-0779-DA3F2FC7F37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Accurate forecast support:</a:t>
            </a:r>
          </a:p>
          <a:p>
            <a:pPr lvl="1"/>
            <a:r>
              <a:rPr lang="en-GB" dirty="0"/>
              <a:t>Operational planning and balancing </a:t>
            </a:r>
          </a:p>
          <a:p>
            <a:pPr lvl="1"/>
            <a:r>
              <a:rPr lang="en-GB" dirty="0"/>
              <a:t>Resource scheduling</a:t>
            </a:r>
          </a:p>
          <a:p>
            <a:pPr lvl="1"/>
            <a:r>
              <a:rPr lang="en-GB" dirty="0"/>
              <a:t>Markt decisions and risk management</a:t>
            </a:r>
          </a:p>
          <a:p>
            <a:pPr marL="457200" lvl="1" indent="0">
              <a:buNone/>
            </a:pPr>
            <a:r>
              <a:rPr lang="en-GB" dirty="0"/>
              <a:t> 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AD3EC20-713B-F674-A0B0-6E0154253C2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dirty="0"/>
              <a:t>Without forecast:</a:t>
            </a:r>
          </a:p>
          <a:p>
            <a:pPr lvl="1"/>
            <a:r>
              <a:rPr lang="en-GB" dirty="0"/>
              <a:t>Reactive decisions </a:t>
            </a:r>
          </a:p>
          <a:p>
            <a:pPr lvl="1"/>
            <a:r>
              <a:rPr lang="en-GB" dirty="0"/>
              <a:t>Higher operational risk </a:t>
            </a:r>
          </a:p>
          <a:p>
            <a:pPr lvl="1"/>
            <a:r>
              <a:rPr lang="en-GB" dirty="0"/>
              <a:t>Potential extra costs </a:t>
            </a:r>
          </a:p>
        </p:txBody>
      </p:sp>
    </p:spTree>
    <p:extLst>
      <p:ext uri="{BB962C8B-B14F-4D97-AF65-F5344CB8AC3E}">
        <p14:creationId xmlns:p14="http://schemas.microsoft.com/office/powerpoint/2010/main" val="410981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A9E8B0-5780-1E83-BEA3-DA915D48D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Solution Overview (CRISP-DM style). REISAR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894CECC-7894-ECB1-EB7F-3348F97157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buAutoNum type="arabicPeriod"/>
            </a:pPr>
            <a:r>
              <a:rPr lang="en-GB" b="1" dirty="0"/>
              <a:t>Business understanding: </a:t>
            </a:r>
            <a:r>
              <a:rPr lang="en-GB" dirty="0"/>
              <a:t>define the forecasting goal and the value.</a:t>
            </a:r>
          </a:p>
          <a:p>
            <a:pPr marL="514350" indent="-514350">
              <a:buAutoNum type="arabicPeriod"/>
            </a:pPr>
            <a:r>
              <a:rPr lang="en-GB" b="1" dirty="0"/>
              <a:t>Data understanding: </a:t>
            </a:r>
            <a:r>
              <a:rPr lang="en-GB" dirty="0"/>
              <a:t>inspect the dataset, frequency, trends, seasonality, missing values.</a:t>
            </a:r>
          </a:p>
          <a:p>
            <a:pPr marL="514350" indent="-514350">
              <a:buAutoNum type="arabicPeriod"/>
            </a:pPr>
            <a:r>
              <a:rPr lang="en-GB" b="1" dirty="0"/>
              <a:t>Data preparation: </a:t>
            </a:r>
            <a:r>
              <a:rPr lang="en-GB" dirty="0"/>
              <a:t>clean, reshape, and build a final time series dataset. </a:t>
            </a:r>
            <a:endParaRPr lang="en-GB" b="1" dirty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6039BA5-2B95-6EF8-D781-F966AF02BA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b="1" dirty="0"/>
              <a:t>4. Feature engineering: </a:t>
            </a:r>
            <a:r>
              <a:rPr lang="en-GB" dirty="0"/>
              <a:t>create lag features, calendar features…</a:t>
            </a:r>
          </a:p>
          <a:p>
            <a:pPr marL="0" indent="0">
              <a:buNone/>
            </a:pPr>
            <a:r>
              <a:rPr lang="en-GB" b="1" dirty="0"/>
              <a:t>5. Modelling: </a:t>
            </a:r>
            <a:r>
              <a:rPr lang="en-GB" dirty="0"/>
              <a:t>train model families used in class (baselines, statistical, ML, neural)</a:t>
            </a:r>
          </a:p>
          <a:p>
            <a:pPr marL="0" indent="0">
              <a:buNone/>
            </a:pPr>
            <a:r>
              <a:rPr lang="en-GB" b="1" dirty="0"/>
              <a:t>6. Evaluation: </a:t>
            </a:r>
            <a:r>
              <a:rPr lang="en-GB" dirty="0"/>
              <a:t>time-based validation/test split, metrics and plots. </a:t>
            </a:r>
          </a:p>
          <a:p>
            <a:pPr marL="0" indent="0">
              <a:buNone/>
            </a:pPr>
            <a:r>
              <a:rPr lang="en-GB" b="1" dirty="0"/>
              <a:t>7. Deployment output: </a:t>
            </a:r>
            <a:r>
              <a:rPr lang="en-GB" dirty="0"/>
              <a:t>forecast January 2026, export predictions, save metrics for reporting. 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1507118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5EC75C-166F-736B-9B32-DF2AA2C90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Dataset Info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4E3B8DF-AD8C-70CC-B696-908F4D13A5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Source:</a:t>
            </a:r>
            <a:r>
              <a:rPr lang="en-GB" b="1" dirty="0"/>
              <a:t> </a:t>
            </a:r>
            <a:r>
              <a:rPr lang="en-GB" dirty="0"/>
              <a:t>Spanish Electric Network (REE) </a:t>
            </a:r>
          </a:p>
          <a:p>
            <a:r>
              <a:rPr lang="en-GB" dirty="0"/>
              <a:t>Frequency: daily</a:t>
            </a:r>
          </a:p>
          <a:p>
            <a:r>
              <a:rPr lang="en-GB" dirty="0"/>
              <a:t>Target: electricity generation (GWh)</a:t>
            </a:r>
          </a:p>
          <a:p>
            <a:r>
              <a:rPr lang="en-GB" dirty="0"/>
              <a:t>Level: production technology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Focus:</a:t>
            </a:r>
          </a:p>
          <a:p>
            <a:r>
              <a:rPr lang="en-GB" dirty="0"/>
              <a:t>Top-7 technologies by average generation </a:t>
            </a:r>
          </a:p>
        </p:txBody>
      </p:sp>
    </p:spTree>
    <p:extLst>
      <p:ext uri="{BB962C8B-B14F-4D97-AF65-F5344CB8AC3E}">
        <p14:creationId xmlns:p14="http://schemas.microsoft.com/office/powerpoint/2010/main" val="13178891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0FAAFF-BAF5-FF57-1147-C6FB2D1C4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Data Preparation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46C0B3E-617B-5959-6456-9D7C08B649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From Raw Data to Panel Dataset 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Convert raw data to panel format:</a:t>
            </a:r>
          </a:p>
          <a:p>
            <a:pPr lvl="1"/>
            <a:r>
              <a:rPr lang="en-GB" b="1" dirty="0" err="1"/>
              <a:t>unique_id</a:t>
            </a:r>
            <a:r>
              <a:rPr lang="en-GB" b="1" dirty="0"/>
              <a:t>:</a:t>
            </a:r>
            <a:r>
              <a:rPr lang="en-GB" dirty="0"/>
              <a:t> technology</a:t>
            </a:r>
          </a:p>
          <a:p>
            <a:pPr lvl="1"/>
            <a:r>
              <a:rPr lang="en-GB" b="1" dirty="0"/>
              <a:t>ds: </a:t>
            </a:r>
            <a:r>
              <a:rPr lang="en-GB" dirty="0"/>
              <a:t>date</a:t>
            </a:r>
          </a:p>
          <a:p>
            <a:pPr lvl="1"/>
            <a:r>
              <a:rPr lang="en-GB" b="1" dirty="0"/>
              <a:t>y: </a:t>
            </a:r>
            <a:r>
              <a:rPr lang="en-GB" dirty="0"/>
              <a:t>daily generation </a:t>
            </a:r>
            <a:r>
              <a:rPr lang="en-GB" b="1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Clean dates and numeric values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Ensures complete daily calendar 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Validate and handle missing days</a:t>
            </a:r>
          </a:p>
          <a:p>
            <a:pPr marL="914400" lvl="2" indent="0">
              <a:buNone/>
            </a:pPr>
            <a:endParaRPr lang="en-GB" dirty="0"/>
          </a:p>
          <a:p>
            <a:pPr marL="457200" lvl="1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463879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40B8F3-0CD4-9CA2-2B32-6AD32D18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Model Families Tested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458AE76-16F3-9322-3513-6AC62BEFCF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b="1" dirty="0"/>
              <a:t>Baselines:</a:t>
            </a:r>
          </a:p>
          <a:p>
            <a:pPr lvl="1"/>
            <a:r>
              <a:rPr lang="en-GB" dirty="0"/>
              <a:t>Naive </a:t>
            </a:r>
          </a:p>
          <a:p>
            <a:pPr lvl="1"/>
            <a:r>
              <a:rPr lang="en-GB" dirty="0"/>
              <a:t>Moving average</a:t>
            </a:r>
          </a:p>
          <a:p>
            <a:r>
              <a:rPr lang="en-GB" b="1" dirty="0"/>
              <a:t>Statistical:</a:t>
            </a:r>
          </a:p>
          <a:p>
            <a:pPr lvl="1"/>
            <a:r>
              <a:rPr lang="en-GB" dirty="0" err="1"/>
              <a:t>AutoARIMA</a:t>
            </a:r>
            <a:endParaRPr lang="en-GB" dirty="0"/>
          </a:p>
          <a:p>
            <a:r>
              <a:rPr lang="en-GB" b="1" dirty="0"/>
              <a:t>Machine Learning:</a:t>
            </a:r>
          </a:p>
          <a:p>
            <a:pPr lvl="1"/>
            <a:r>
              <a:rPr lang="en-GB" dirty="0"/>
              <a:t>Random Forest</a:t>
            </a:r>
          </a:p>
          <a:p>
            <a:pPr lvl="1"/>
            <a:r>
              <a:rPr lang="en-GB" dirty="0"/>
              <a:t>Gradient Boosting</a:t>
            </a:r>
          </a:p>
          <a:p>
            <a:pPr lvl="1"/>
            <a:r>
              <a:rPr lang="en-GB" dirty="0"/>
              <a:t>Lag, calendar &amp; rolling features</a:t>
            </a:r>
          </a:p>
          <a:p>
            <a:pPr marL="0" indent="0">
              <a:buNone/>
            </a:pPr>
            <a:endParaRPr lang="en-GB" b="1" dirty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BE12D95-E880-5C96-778D-FF051D5DB32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b="1" dirty="0"/>
              <a:t>Deep Learning:</a:t>
            </a:r>
          </a:p>
          <a:p>
            <a:pPr lvl="1"/>
            <a:r>
              <a:rPr lang="en-GB" dirty="0"/>
              <a:t>NBEATS</a:t>
            </a:r>
          </a:p>
          <a:p>
            <a:pPr lvl="1"/>
            <a:r>
              <a:rPr lang="en-GB" dirty="0" err="1"/>
              <a:t>NLinear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20623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8EAD1E-807D-F7AC-1299-E225FB374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Evaluation Strategy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C461081-B566-CA00-3287-9C6D1B1AC7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Time-Based Evaluation 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781A080-DD99-DEEB-E568-E981F2A9425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No shuffling (time series CV)</a:t>
            </a:r>
          </a:p>
          <a:p>
            <a:r>
              <a:rPr lang="en-GB" dirty="0"/>
              <a:t>Split:</a:t>
            </a:r>
          </a:p>
          <a:p>
            <a:pPr lvl="1"/>
            <a:r>
              <a:rPr lang="en-GB" dirty="0"/>
              <a:t>Train </a:t>
            </a:r>
          </a:p>
          <a:p>
            <a:pPr lvl="1"/>
            <a:r>
              <a:rPr lang="en-GB" dirty="0"/>
              <a:t>Validation (H = 31 days)</a:t>
            </a:r>
          </a:p>
          <a:p>
            <a:pPr lvl="1"/>
            <a:r>
              <a:rPr lang="en-GB" dirty="0"/>
              <a:t>Test (H = 31 days)</a:t>
            </a:r>
          </a:p>
          <a:p>
            <a:r>
              <a:rPr lang="en-GB" dirty="0"/>
              <a:t>Metrics:</a:t>
            </a:r>
          </a:p>
          <a:p>
            <a:pPr lvl="1"/>
            <a:r>
              <a:rPr lang="en-GB" dirty="0"/>
              <a:t>MAPE</a:t>
            </a:r>
          </a:p>
          <a:p>
            <a:pPr lvl="1"/>
            <a:r>
              <a:rPr lang="en-GB" dirty="0"/>
              <a:t>MAE</a:t>
            </a:r>
          </a:p>
          <a:p>
            <a:pPr lvl="1"/>
            <a:r>
              <a:rPr lang="en-GB" dirty="0"/>
              <a:t>RMSE</a:t>
            </a:r>
          </a:p>
          <a:p>
            <a:pPr lvl="1"/>
            <a:r>
              <a:rPr lang="en-GB" dirty="0"/>
              <a:t>OPE</a:t>
            </a:r>
          </a:p>
          <a:p>
            <a:pPr lvl="1"/>
            <a:r>
              <a:rPr lang="en-GB" dirty="0"/>
              <a:t>R2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3F28E473-FCCF-5323-3DF6-8E55FA8E65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Model Selection 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EF8FE6A7-C412-2D95-92DF-9D75CA5DE8F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Best MAE on validation </a:t>
            </a:r>
          </a:p>
          <a:p>
            <a:r>
              <a:rPr lang="en-GB" dirty="0"/>
              <a:t>Baselines excluded from final forecast if unrealistic</a:t>
            </a:r>
          </a:p>
        </p:txBody>
      </p:sp>
    </p:spTree>
    <p:extLst>
      <p:ext uri="{BB962C8B-B14F-4D97-AF65-F5344CB8AC3E}">
        <p14:creationId xmlns:p14="http://schemas.microsoft.com/office/powerpoint/2010/main" val="847815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EA39E2-F78C-1BA0-D34B-1BFB19A4D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Results &amp; Forecast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1BEF5E2-BEF8-4AC4-F1B8-B88BDEA14B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January 2026 Forecast</a:t>
            </a:r>
          </a:p>
          <a:p>
            <a:r>
              <a:rPr lang="en-GB" dirty="0"/>
              <a:t>Best overall model selected across technologies </a:t>
            </a:r>
          </a:p>
          <a:p>
            <a:r>
              <a:rPr lang="en-GB" dirty="0"/>
              <a:t>Daily forecast for Jan 2026</a:t>
            </a:r>
          </a:p>
          <a:p>
            <a:r>
              <a:rPr lang="en-GB" dirty="0"/>
              <a:t>Outputs: </a:t>
            </a:r>
          </a:p>
          <a:p>
            <a:pPr lvl="1"/>
            <a:r>
              <a:rPr lang="en-GB" dirty="0"/>
              <a:t>CSV (and Parquet if available)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76FBDE1-4D02-C29F-AF06-FAEC019CB0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Uncertainty</a:t>
            </a:r>
          </a:p>
          <a:p>
            <a:r>
              <a:rPr lang="en-GB" dirty="0"/>
              <a:t>Empirical prediction intervals </a:t>
            </a:r>
          </a:p>
          <a:p>
            <a:r>
              <a:rPr lang="en-GB" dirty="0"/>
              <a:t>Based on validation residual quantiles (95%)</a:t>
            </a:r>
          </a:p>
        </p:txBody>
      </p:sp>
    </p:spTree>
    <p:extLst>
      <p:ext uri="{BB962C8B-B14F-4D97-AF65-F5344CB8AC3E}">
        <p14:creationId xmlns:p14="http://schemas.microsoft.com/office/powerpoint/2010/main" val="36898350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2D2313-E4F2-A92B-B35C-585571590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Value &amp; Conclusion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62105F7-D478-7E13-EDE7-CCB8217493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Value Generated: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Better planning of energy balance and reserves</a:t>
            </a:r>
          </a:p>
          <a:p>
            <a:pPr lvl="1"/>
            <a:r>
              <a:rPr lang="en-GB" dirty="0"/>
              <a:t>Improved risk-aware decision-making</a:t>
            </a:r>
          </a:p>
          <a:p>
            <a:pPr lvl="1"/>
            <a:r>
              <a:rPr lang="en-GB" dirty="0"/>
              <a:t>Useful even with uncertainty</a:t>
            </a:r>
          </a:p>
          <a:p>
            <a:r>
              <a:rPr lang="en-GB" b="1" dirty="0"/>
              <a:t>Conclusion: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2421639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</TotalTime>
  <Words>444</Words>
  <Application>Microsoft Office PowerPoint</Application>
  <PresentationFormat>Panorámica</PresentationFormat>
  <Paragraphs>101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Tema de Office</vt:lpstr>
      <vt:lpstr>Forecasting Daily Electricity Generation in Spain </vt:lpstr>
      <vt:lpstr>Team &amp; Contributions. REVISAR LO DE CADA UNO </vt:lpstr>
      <vt:lpstr>Business Problem </vt:lpstr>
      <vt:lpstr>Why Forecasting Matters?</vt:lpstr>
      <vt:lpstr>Solution Overview (CRISP-DM style). REISAR</vt:lpstr>
      <vt:lpstr>Dataset Info</vt:lpstr>
      <vt:lpstr>Data Preparation</vt:lpstr>
      <vt:lpstr>Model Families Tested </vt:lpstr>
      <vt:lpstr>Evaluation Strategy</vt:lpstr>
      <vt:lpstr>Results &amp; Forecast</vt:lpstr>
      <vt:lpstr>Value &amp; 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MIREIA MONTOYA BUENDIA</dc:creator>
  <cp:lastModifiedBy>MIREIA MONTOYA BUENDIA</cp:lastModifiedBy>
  <cp:revision>2</cp:revision>
  <dcterms:created xsi:type="dcterms:W3CDTF">2025-12-29T20:01:16Z</dcterms:created>
  <dcterms:modified xsi:type="dcterms:W3CDTF">2025-12-30T22:22:22Z</dcterms:modified>
</cp:coreProperties>
</file>