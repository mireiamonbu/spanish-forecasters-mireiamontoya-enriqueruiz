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8" r:id="rId4"/>
    <p:sldId id="259" r:id="rId5"/>
    <p:sldId id="270" r:id="rId6"/>
    <p:sldId id="269" r:id="rId7"/>
    <p:sldId id="271" r:id="rId8"/>
    <p:sldId id="262" r:id="rId9"/>
    <p:sldId id="264" r:id="rId10"/>
    <p:sldId id="272" r:id="rId11"/>
    <p:sldId id="266" r:id="rId12"/>
    <p:sldId id="267" r:id="rId1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209506-3838-B9DB-188B-B8BE9E2A7C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49EBE80-7670-9D2E-FC3C-B9FFA95AEC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EDE5C56-0F12-F54E-40B6-FD2368986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E060621-99F8-F273-1B65-AA4552207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11626BE-93BE-C335-33A8-7EE91105C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9613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E1F159-547A-C66A-18E8-6F4DA66A6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D234C59-4348-1C7E-D6E1-F5995C7BC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51C34EB-8ED9-0B92-9D18-646FED6A9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4B4143A-699B-D2D4-F9D8-98EA00634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FF64A5B-F057-1899-33BC-1B53F259D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5038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1D57EE-2E3F-78B0-C115-5F6B00E7A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383BE68-EA12-38E8-1E4F-9B906A1F89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D756A73-7A9E-615C-6393-E6F6B88A2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2F6152-8900-D706-E3F5-116E7A8D1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02715DD-320C-A4FE-63B8-589A02B99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84066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043E64-F6DB-D5F8-E62F-D828C46E8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D34E4DC-6D8D-AB32-41FD-C986762CD8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CCA2DB3-9C66-A462-C308-7A57B2B2D5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B7D6BD7-228D-FDC4-6D08-0BC706FC8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12D4964-4F1C-A423-62F2-7675CEAE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D4312AD-4BAC-5F28-F2C5-10F30E8B8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5960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443854-2205-9A89-94B1-E2B3B1AFA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35DFAB7-4FA7-82F3-63A9-9B26FE696A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E3DCFC8-F4AB-47D7-B2A0-226810AE78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D37CAE76-6EC0-6008-9490-8FF73C1958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16259B5-7F36-34A1-06FA-7D1DE6C728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CA474E61-B68B-5649-E561-D569B41B8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B234976-B882-B362-B26D-F31B0A951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4DB288CD-90E0-C4E4-9362-DB1FB5D1B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2825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7A92CF-E4EF-8BBA-3465-523BF9B0D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51818A9-EF49-0344-8F5D-CA5117FCC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8F37F25-AB01-F98C-49D0-116288929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68BFA8D-6275-C768-C272-DC312DE70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15677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4A8BE2F-EA2A-F9DC-41D2-3D9CB443A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9CCB02A-9BAD-D423-2697-D7E4709F3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25DDD53-8988-3C7C-5FEB-72A33A043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07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8BB546-D01A-B38A-A790-48B4ABE83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DFF7326-5813-04DD-8B79-A2F881B3CF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41DBCF5-B24A-5729-23C9-4C9CE1B935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EEF1A4E-3229-6801-C2E9-B1665DC84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18A5267-B0B9-E96E-D78D-318AA2919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1A92FB9-3E1F-73CD-B936-20261FDE3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4916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8A1B9D-2C86-9FC6-F102-313C97704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13897A5-67E4-D7AB-ED5F-6387B6E6D1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D16A3F8-9FC0-7943-EC27-BC0A509916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60576D6-3D91-32FB-C361-E471CB246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5F3E50A-1685-73FB-C5BA-60DE22D78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46578C0-48BD-AA93-DED8-1958C6640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640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D519A9-5DAF-D3DB-6236-187CF0D98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529126A-884E-87A2-5CA1-7928837950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C99097E-3281-2462-D25B-E89197566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B0EDF42-1CA7-1AF5-3248-FDC5AE7CF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844F1EC-F5EA-612D-59F1-1B0C3D162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165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06FB9EE-5829-E22A-C847-3BEC8A0A4C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F8E8BAF-7D7C-3A47-707A-C9D6695EEE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D6F70E-2C61-765D-465B-08247568A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80D1A55-3FDD-1EC1-6463-7EEC4E2D7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5BCDF0-E29E-1077-77AD-BBCE5E4B4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598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85D735E-226F-673D-B258-56093EAB7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D30E5BD-52FD-8D85-38BA-2D2A03F09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43A931E-B444-A338-D0C0-7BCDB996E8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BFD437-33C7-4B24-B6C7-F91A3EACF5E2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B97DB7D-B08A-BA8A-D9BD-3CE0CF1D42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8D3497B-F224-1D0F-B100-A776D691DD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2499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34817C8-D649-CE1A-DBBC-856DA9F6E2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97762" y="329184"/>
            <a:ext cx="6251110" cy="17830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4200"/>
              <a:t>Forecasting Daily Electricity Generation in Spain </a:t>
            </a:r>
          </a:p>
        </p:txBody>
      </p:sp>
      <p:pic>
        <p:nvPicPr>
          <p:cNvPr id="5" name="Picture 4" descr="Una granja de paneles solares">
            <a:extLst>
              <a:ext uri="{FF2B5EF4-FFF2-40B4-BE49-F238E27FC236}">
                <a16:creationId xmlns:a16="http://schemas.microsoft.com/office/drawing/2014/main" id="{ABE6EBB4-BA15-B696-8C3E-613C2F9794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088" r="22921" b="-1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9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7C307ED-4B8A-8525-E6FF-511BA5EF6E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97762" y="2706624"/>
            <a:ext cx="6251110" cy="3483864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200"/>
              <a:t>Capstone Forecasting Project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200"/>
              <a:t>Time Series Analysis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200"/>
              <a:t>Team: Spanish Forecasters 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200"/>
          </a:p>
        </p:txBody>
      </p:sp>
    </p:spTree>
    <p:extLst>
      <p:ext uri="{BB962C8B-B14F-4D97-AF65-F5344CB8AC3E}">
        <p14:creationId xmlns:p14="http://schemas.microsoft.com/office/powerpoint/2010/main" val="1781777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FFBEE45-F140-49D5-85EA-C78C24340B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87C6E7F-E335-FF39-BC2D-8AD08573E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28444"/>
          </a:xfrm>
        </p:spPr>
        <p:txBody>
          <a:bodyPr>
            <a:normAutofit/>
          </a:bodyPr>
          <a:lstStyle/>
          <a:p>
            <a:r>
              <a:rPr lang="en-GB" sz="5200"/>
              <a:t>Team &amp; Contributions.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9F21CB2-11F2-98CB-E598-0E906090B7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98626"/>
            <a:ext cx="5158427" cy="3730460"/>
          </a:xfrm>
        </p:spPr>
        <p:txBody>
          <a:bodyPr>
            <a:normAutofit/>
          </a:bodyPr>
          <a:lstStyle/>
          <a:p>
            <a:r>
              <a:rPr lang="en-GB" sz="2000"/>
              <a:t>Enrique Ruiz:</a:t>
            </a:r>
          </a:p>
          <a:p>
            <a:pPr lvl="1"/>
            <a:r>
              <a:rPr lang="en-GB" sz="2000"/>
              <a:t>Data parsing/cleaning</a:t>
            </a:r>
          </a:p>
          <a:p>
            <a:pPr lvl="1"/>
            <a:r>
              <a:rPr lang="en-GB" sz="2000"/>
              <a:t>Modelling </a:t>
            </a:r>
          </a:p>
          <a:p>
            <a:pPr lvl="1"/>
            <a:r>
              <a:rPr lang="en-GB" sz="2000"/>
              <a:t>Evaluation </a:t>
            </a:r>
          </a:p>
          <a:p>
            <a:pPr lvl="1"/>
            <a:r>
              <a:rPr lang="en-GB" sz="2000"/>
              <a:t>Plots</a:t>
            </a:r>
          </a:p>
          <a:p>
            <a:pPr lvl="1"/>
            <a:r>
              <a:rPr lang="en-GB" sz="2000"/>
              <a:t>Business value</a:t>
            </a:r>
          </a:p>
          <a:p>
            <a:pPr lvl="1"/>
            <a:endParaRPr lang="en-GB" sz="2000"/>
          </a:p>
          <a:p>
            <a:pPr marL="0" indent="0">
              <a:buNone/>
            </a:pPr>
            <a:endParaRPr lang="en-GB" sz="200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CD08206-EE7A-3E02-0120-39AE8E2E90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9154" y="2398626"/>
            <a:ext cx="5164645" cy="3730460"/>
          </a:xfrm>
        </p:spPr>
        <p:txBody>
          <a:bodyPr>
            <a:normAutofit/>
          </a:bodyPr>
          <a:lstStyle/>
          <a:p>
            <a:r>
              <a:rPr lang="en-GB" sz="2000"/>
              <a:t>Mireia Montoya:</a:t>
            </a:r>
          </a:p>
          <a:p>
            <a:pPr lvl="1"/>
            <a:r>
              <a:rPr lang="en-GB" sz="2000"/>
              <a:t>Documentation </a:t>
            </a:r>
          </a:p>
          <a:p>
            <a:pPr lvl="1"/>
            <a:r>
              <a:rPr lang="en-GB" sz="2000"/>
              <a:t>Slide deck</a:t>
            </a:r>
          </a:p>
          <a:p>
            <a:pPr lvl="1"/>
            <a:r>
              <a:rPr lang="en-GB" sz="2000"/>
              <a:t>Interpretation of results</a:t>
            </a:r>
          </a:p>
          <a:p>
            <a:pPr lvl="1"/>
            <a:r>
              <a:rPr lang="en-GB" sz="2000"/>
              <a:t>Presentation speaking roles</a:t>
            </a:r>
          </a:p>
          <a:p>
            <a:pPr lvl="1"/>
            <a:r>
              <a:rPr lang="en-GB" sz="2000"/>
              <a:t>Plots</a:t>
            </a:r>
          </a:p>
          <a:p>
            <a:pPr marL="457200" lvl="1" indent="0">
              <a:buNone/>
            </a:pPr>
            <a:endParaRPr lang="en-GB" sz="2000"/>
          </a:p>
        </p:txBody>
      </p:sp>
    </p:spTree>
    <p:extLst>
      <p:ext uri="{BB962C8B-B14F-4D97-AF65-F5344CB8AC3E}">
        <p14:creationId xmlns:p14="http://schemas.microsoft.com/office/powerpoint/2010/main" val="2149775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DCDD8E0-E6E6-5F10-E59D-A65540973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Business Problem</a:t>
            </a:r>
          </a:p>
        </p:txBody>
      </p:sp>
      <p:sp>
        <p:nvSpPr>
          <p:cNvPr id="23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28278E9-FDD9-5B7F-EF03-07B1DB6B5A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936" y="2807208"/>
            <a:ext cx="3429000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400" b="1" dirty="0"/>
              <a:t>Problem: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400" dirty="0"/>
              <a:t>Electricity generation in Spain is highly variable due to weather conditions, demand fluctuations, and seasonal patterns. This variability introduces uncertainty in grid operation, generation planning, and energy market decisions.</a:t>
            </a:r>
          </a:p>
          <a:p>
            <a:r>
              <a:rPr lang="en-US" sz="1400" b="1" dirty="0"/>
              <a:t>Goal :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400" dirty="0"/>
              <a:t>Forecast daily electricity generation by production technology for January 2026 to support better planning decisions, reduce operational risk, and minimize economic losses caused by unexpected changes in generation.</a:t>
            </a:r>
          </a:p>
        </p:txBody>
      </p:sp>
      <p:pic>
        <p:nvPicPr>
          <p:cNvPr id="6" name="Marcador de contenido 5" descr="Gráfico&#10;&#10;El contenido generado por IA puede ser incorrecto.">
            <a:extLst>
              <a:ext uri="{FF2B5EF4-FFF2-40B4-BE49-F238E27FC236}">
                <a16:creationId xmlns:a16="http://schemas.microsoft.com/office/drawing/2014/main" id="{3D6E01D1-9C43-F922-1E44-E5E5F10303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54296" y="1720330"/>
            <a:ext cx="6903720" cy="34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0233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A9E8B0-5780-1E83-BEA3-DA915D48D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Solution Overview. General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894CECC-7894-ECB1-EB7F-3348F97157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AutoNum type="arabicPeriod"/>
            </a:pPr>
            <a:r>
              <a:rPr lang="en-GB" b="1" dirty="0"/>
              <a:t>Business understanding: </a:t>
            </a:r>
            <a:r>
              <a:rPr lang="en-GB" dirty="0"/>
              <a:t>define the forecasting goal and the value.</a:t>
            </a:r>
          </a:p>
          <a:p>
            <a:pPr marL="514350" indent="-514350">
              <a:buAutoNum type="arabicPeriod"/>
            </a:pPr>
            <a:r>
              <a:rPr lang="en-GB" b="1" dirty="0"/>
              <a:t>Data understanding: </a:t>
            </a:r>
            <a:r>
              <a:rPr lang="en-GB" dirty="0"/>
              <a:t>inspect the dataset, frequency, trends, seasonality, missing values.</a:t>
            </a:r>
          </a:p>
          <a:p>
            <a:pPr marL="514350" indent="-514350">
              <a:buAutoNum type="arabicPeriod"/>
            </a:pPr>
            <a:r>
              <a:rPr lang="en-GB" b="1" dirty="0"/>
              <a:t>Data preparation: </a:t>
            </a:r>
            <a:r>
              <a:rPr lang="en-GB" dirty="0"/>
              <a:t>clean, reshape, and build a final time series dataset. </a:t>
            </a:r>
            <a:endParaRPr lang="en-GB" b="1" dirty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6039BA5-2B95-6EF8-D781-F966AF02BA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b="1" dirty="0"/>
              <a:t>4. Feature engineering: </a:t>
            </a:r>
            <a:r>
              <a:rPr lang="en-GB" dirty="0"/>
              <a:t>create lag features, calendar features…</a:t>
            </a:r>
          </a:p>
          <a:p>
            <a:pPr marL="0" indent="0">
              <a:buNone/>
            </a:pPr>
            <a:r>
              <a:rPr lang="en-GB" b="1" dirty="0"/>
              <a:t>5. Modelling: </a:t>
            </a:r>
            <a:r>
              <a:rPr lang="en-GB" dirty="0"/>
              <a:t>train model families used in class (baselines, statistical, ML, neural)</a:t>
            </a:r>
          </a:p>
          <a:p>
            <a:pPr marL="0" indent="0">
              <a:buNone/>
            </a:pPr>
            <a:r>
              <a:rPr lang="en-GB" b="1" dirty="0"/>
              <a:t>6. Evaluation: </a:t>
            </a:r>
            <a:r>
              <a:rPr lang="en-GB" dirty="0"/>
              <a:t>time-based validation/test split, metrics and plots. </a:t>
            </a:r>
          </a:p>
          <a:p>
            <a:pPr marL="0" indent="0">
              <a:buNone/>
            </a:pPr>
            <a:r>
              <a:rPr lang="en-GB" b="1" dirty="0"/>
              <a:t>7. Output: </a:t>
            </a:r>
            <a:r>
              <a:rPr lang="en-GB" dirty="0"/>
              <a:t>forecast January 2026, export predictions, save metrics for reporting. 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15071183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350D3-30BF-6837-F2FB-FBDB6602E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Solution Overview (General)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77DD94E-7F8E-0585-321E-7099CABCFE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GB" b="1" dirty="0"/>
              <a:t>Business goal: </a:t>
            </a:r>
            <a:r>
              <a:rPr lang="en-GB" dirty="0"/>
              <a:t>forecast daily electricity generation (Top-7 technologies).</a:t>
            </a:r>
          </a:p>
          <a:p>
            <a:pPr marL="514350" indent="-514350">
              <a:buAutoNum type="arabicPeriod"/>
            </a:pPr>
            <a:r>
              <a:rPr lang="en-GB" b="1" dirty="0"/>
              <a:t>Data preparation: </a:t>
            </a:r>
            <a:r>
              <a:rPr lang="en-GB" dirty="0"/>
              <a:t>clean panel data, full daily grid, missing values handled </a:t>
            </a:r>
          </a:p>
          <a:p>
            <a:pPr marL="514350" indent="-514350">
              <a:buAutoNum type="arabicPeriod"/>
            </a:pPr>
            <a:r>
              <a:rPr lang="en-GB" b="1" dirty="0"/>
              <a:t>Feature engineering: </a:t>
            </a:r>
            <a:r>
              <a:rPr lang="en-GB" dirty="0"/>
              <a:t>lags, calendar features and rolling statistics. </a:t>
            </a:r>
            <a:endParaRPr lang="en-GB" b="1" dirty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199A925-090D-C224-5A0C-26518CA594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4. Modelling: </a:t>
            </a:r>
            <a:r>
              <a:rPr lang="en-GB" dirty="0"/>
              <a:t>baselines, statistical (ARIMA), ML and neural models.</a:t>
            </a:r>
          </a:p>
          <a:p>
            <a:pPr marL="0" indent="0">
              <a:buNone/>
            </a:pPr>
            <a:r>
              <a:rPr lang="en-GB" b="1" dirty="0"/>
              <a:t>5. Evaluation: </a:t>
            </a:r>
            <a:r>
              <a:rPr lang="en-GB" dirty="0"/>
              <a:t>time-based Train/Val/Test split with error metrics. </a:t>
            </a:r>
          </a:p>
          <a:p>
            <a:pPr marL="0" indent="0">
              <a:buNone/>
            </a:pPr>
            <a:r>
              <a:rPr lang="en-GB" b="1" dirty="0"/>
              <a:t>6. Output: </a:t>
            </a:r>
            <a:r>
              <a:rPr lang="en-GB" dirty="0"/>
              <a:t>January 2026 forecast with uncertainty intervals and saved results. 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410891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E9EC41-7E88-2489-FB33-88B5903BA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Solution Overview. (Code Workflow)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D391234-3875-47F3-F6C8-77A74EC785B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GB" b="1" dirty="0"/>
              <a:t>Load data: </a:t>
            </a:r>
            <a:r>
              <a:rPr lang="en-GB" dirty="0"/>
              <a:t>read the prepared panel dataset (</a:t>
            </a:r>
            <a:r>
              <a:rPr lang="en-GB" dirty="0" err="1"/>
              <a:t>unique_id</a:t>
            </a:r>
            <a:r>
              <a:rPr lang="en-GB" dirty="0"/>
              <a:t>, ds, y). </a:t>
            </a:r>
          </a:p>
          <a:p>
            <a:pPr marL="514350" indent="-514350">
              <a:buAutoNum type="arabicPeriod"/>
            </a:pPr>
            <a:r>
              <a:rPr lang="en-GB" b="1" dirty="0"/>
              <a:t>Time split: </a:t>
            </a:r>
            <a:r>
              <a:rPr lang="en-GB" dirty="0"/>
              <a:t>Train / Validation / Test (last 31 + 31 days). </a:t>
            </a:r>
          </a:p>
          <a:p>
            <a:pPr marL="0" indent="0">
              <a:buNone/>
            </a:pPr>
            <a:r>
              <a:rPr lang="en-GB" b="1" dirty="0"/>
              <a:t>3. Train &amp; predict: </a:t>
            </a:r>
            <a:r>
              <a:rPr lang="en-GB" dirty="0"/>
              <a:t>fit models per technology and generate forecasts. </a:t>
            </a:r>
            <a:endParaRPr lang="en-GB" b="1" dirty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1D090F4-9A0D-3B09-ABD2-A2389E7B376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4. Evaluate &amp; select: </a:t>
            </a:r>
            <a:r>
              <a:rPr lang="en-GB" dirty="0"/>
              <a:t>compute metrics and choose best model per family.</a:t>
            </a:r>
          </a:p>
          <a:p>
            <a:pPr marL="0" indent="0">
              <a:buNone/>
            </a:pPr>
            <a:r>
              <a:rPr lang="en-GB" b="1" dirty="0"/>
              <a:t>5. Visualize &amp; forecast: </a:t>
            </a:r>
            <a:r>
              <a:rPr lang="en-GB" dirty="0"/>
              <a:t>plot results and generate final Jan-2026 forecast. 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6608846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38832D-0E2E-FC38-CBEF-33727E5F4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Dataset Info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6316350-C1EB-16A5-9412-7FAE7411654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Source: </a:t>
            </a:r>
            <a:r>
              <a:rPr lang="en-GB" dirty="0"/>
              <a:t>Spanish Electric Network (REE) </a:t>
            </a:r>
          </a:p>
          <a:p>
            <a:r>
              <a:rPr lang="en-GB" b="1" dirty="0"/>
              <a:t>Frequency:</a:t>
            </a:r>
            <a:r>
              <a:rPr lang="en-GB" dirty="0"/>
              <a:t> daily</a:t>
            </a:r>
          </a:p>
          <a:p>
            <a:r>
              <a:rPr lang="en-GB" b="1" dirty="0"/>
              <a:t>Target:</a:t>
            </a:r>
            <a:r>
              <a:rPr lang="en-GB" dirty="0"/>
              <a:t> electricity generation (GWh)</a:t>
            </a:r>
          </a:p>
          <a:p>
            <a:r>
              <a:rPr lang="en-GB" b="1" dirty="0"/>
              <a:t>Level:</a:t>
            </a:r>
            <a:r>
              <a:rPr lang="en-GB" dirty="0"/>
              <a:t> production technology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b="1" dirty="0"/>
              <a:t>Focus:</a:t>
            </a:r>
          </a:p>
          <a:p>
            <a:r>
              <a:rPr lang="en-GB" dirty="0"/>
              <a:t>Top-7 technologies by average generation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ED33C6C-B751-DC3B-71E1-DB4E433CAC7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b="1" dirty="0"/>
              <a:t>Advert:</a:t>
            </a:r>
          </a:p>
          <a:p>
            <a:pPr marL="0" indent="0">
              <a:buNone/>
            </a:pPr>
            <a:r>
              <a:rPr lang="en-GB" dirty="0"/>
              <a:t>As the dataset is from Spain, the features are written in Spanish. Translation: </a:t>
            </a:r>
          </a:p>
          <a:p>
            <a:r>
              <a:rPr lang="en-GB" b="1" dirty="0" err="1"/>
              <a:t>Carbón</a:t>
            </a:r>
            <a:r>
              <a:rPr lang="en-GB" b="1" dirty="0"/>
              <a:t>: </a:t>
            </a:r>
            <a:r>
              <a:rPr lang="en-GB" dirty="0"/>
              <a:t>coal</a:t>
            </a:r>
          </a:p>
          <a:p>
            <a:r>
              <a:rPr lang="en-GB" b="1" dirty="0"/>
              <a:t>Ciclo </a:t>
            </a:r>
            <a:r>
              <a:rPr lang="en-GB" b="1" dirty="0" err="1"/>
              <a:t>combinado</a:t>
            </a:r>
            <a:r>
              <a:rPr lang="en-GB" b="1" dirty="0"/>
              <a:t>: </a:t>
            </a:r>
            <a:r>
              <a:rPr lang="en-GB" dirty="0"/>
              <a:t>combined cycle</a:t>
            </a:r>
            <a:endParaRPr lang="en-GB" b="1" dirty="0"/>
          </a:p>
          <a:p>
            <a:r>
              <a:rPr lang="en-GB" b="1" dirty="0" err="1"/>
              <a:t>Cogeneración</a:t>
            </a:r>
            <a:r>
              <a:rPr lang="en-GB" b="1" dirty="0"/>
              <a:t>: </a:t>
            </a:r>
            <a:r>
              <a:rPr lang="en-GB" dirty="0"/>
              <a:t>cogeneration</a:t>
            </a:r>
            <a:endParaRPr lang="en-GB" b="1" dirty="0"/>
          </a:p>
          <a:p>
            <a:r>
              <a:rPr lang="en-GB" b="1" dirty="0" err="1"/>
              <a:t>Eólica</a:t>
            </a:r>
            <a:r>
              <a:rPr lang="en-GB" b="1" dirty="0"/>
              <a:t>: </a:t>
            </a:r>
            <a:r>
              <a:rPr lang="en-GB" dirty="0"/>
              <a:t>Eolic</a:t>
            </a:r>
            <a:endParaRPr lang="en-GB" b="1" dirty="0"/>
          </a:p>
          <a:p>
            <a:r>
              <a:rPr lang="en-GB" b="1" dirty="0" err="1"/>
              <a:t>Hidráulica</a:t>
            </a:r>
            <a:r>
              <a:rPr lang="en-GB" b="1" dirty="0"/>
              <a:t>: </a:t>
            </a:r>
            <a:r>
              <a:rPr lang="en-GB" dirty="0" err="1"/>
              <a:t>Hidraulic</a:t>
            </a:r>
            <a:r>
              <a:rPr lang="en-GB" dirty="0"/>
              <a:t> </a:t>
            </a:r>
            <a:endParaRPr lang="en-GB" b="1" dirty="0"/>
          </a:p>
          <a:p>
            <a:r>
              <a:rPr lang="en-GB" b="1" dirty="0"/>
              <a:t>Nuclear: </a:t>
            </a:r>
            <a:r>
              <a:rPr lang="en-GB" dirty="0"/>
              <a:t>nuclear </a:t>
            </a:r>
            <a:endParaRPr lang="en-GB" b="1" dirty="0"/>
          </a:p>
          <a:p>
            <a:r>
              <a:rPr lang="en-GB" b="1" dirty="0" err="1"/>
              <a:t>Solear</a:t>
            </a:r>
            <a:r>
              <a:rPr lang="en-GB" b="1" dirty="0"/>
              <a:t> </a:t>
            </a:r>
            <a:r>
              <a:rPr lang="en-GB" b="1" dirty="0" err="1"/>
              <a:t>fotovoltaica</a:t>
            </a:r>
            <a:r>
              <a:rPr lang="en-GB" b="1" dirty="0"/>
              <a:t>: </a:t>
            </a:r>
            <a:r>
              <a:rPr lang="en-GB" dirty="0"/>
              <a:t>Solar Photovoltaics </a:t>
            </a:r>
            <a:endParaRPr lang="en-GB" b="1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297882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0FAAFF-BAF5-FF57-1147-C6FB2D1C4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Data Engineering.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46C0B3E-617B-5959-6456-9D7C08B649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From Raw Data to Panel Dataset 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Convert raw data to panel format:</a:t>
            </a:r>
          </a:p>
          <a:p>
            <a:pPr lvl="1"/>
            <a:r>
              <a:rPr lang="en-GB" b="1" dirty="0" err="1"/>
              <a:t>unique_id</a:t>
            </a:r>
            <a:r>
              <a:rPr lang="en-GB" b="1" dirty="0"/>
              <a:t>:</a:t>
            </a:r>
            <a:r>
              <a:rPr lang="en-GB" dirty="0"/>
              <a:t> technology</a:t>
            </a:r>
          </a:p>
          <a:p>
            <a:pPr lvl="1"/>
            <a:r>
              <a:rPr lang="en-GB" b="1" dirty="0"/>
              <a:t>ds: </a:t>
            </a:r>
            <a:r>
              <a:rPr lang="en-GB" dirty="0"/>
              <a:t>date</a:t>
            </a:r>
          </a:p>
          <a:p>
            <a:pPr lvl="1"/>
            <a:r>
              <a:rPr lang="en-GB" b="1" dirty="0"/>
              <a:t>y: </a:t>
            </a:r>
            <a:r>
              <a:rPr lang="en-GB" dirty="0"/>
              <a:t>daily generation </a:t>
            </a:r>
            <a:r>
              <a:rPr lang="en-GB" b="1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Clean dates and numeric values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Ensures complete daily calendar 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Validate and handle missing days</a:t>
            </a:r>
          </a:p>
          <a:p>
            <a:pPr marL="914400" lvl="2" indent="0">
              <a:buNone/>
            </a:pPr>
            <a:endParaRPr lang="en-GB" dirty="0"/>
          </a:p>
          <a:p>
            <a:pPr marL="457200" lvl="1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463879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40B8F3-0CD4-9CA2-2B32-6AD32D18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Model Families Tested. FALTA </a:t>
            </a:r>
            <a:r>
              <a:rPr lang="en-GB" b="1" dirty="0" err="1"/>
              <a:t>el</a:t>
            </a:r>
            <a:r>
              <a:rPr lang="en-GB" b="1" dirty="0"/>
              <a:t> why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458AE76-16F3-9322-3513-6AC62BEFCF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b="1" dirty="0"/>
              <a:t>Baselines:</a:t>
            </a:r>
          </a:p>
          <a:p>
            <a:pPr lvl="1"/>
            <a:r>
              <a:rPr lang="en-GB" dirty="0"/>
              <a:t>Naive (last value)</a:t>
            </a:r>
          </a:p>
          <a:p>
            <a:pPr lvl="1"/>
            <a:r>
              <a:rPr lang="en-GB" dirty="0"/>
              <a:t>Moving average (7-days window)</a:t>
            </a:r>
          </a:p>
          <a:p>
            <a:pPr lvl="1"/>
            <a:r>
              <a:rPr lang="en-GB" dirty="0"/>
              <a:t>Seasonal Naive (weekly)</a:t>
            </a:r>
          </a:p>
          <a:p>
            <a:r>
              <a:rPr lang="en-GB" b="1" dirty="0"/>
              <a:t>Statistical:</a:t>
            </a:r>
          </a:p>
          <a:p>
            <a:pPr lvl="1"/>
            <a:r>
              <a:rPr lang="en-GB" dirty="0" err="1"/>
              <a:t>AutoARIMA</a:t>
            </a:r>
            <a:r>
              <a:rPr lang="en-GB" dirty="0"/>
              <a:t> (weekly seasonality)</a:t>
            </a:r>
          </a:p>
          <a:p>
            <a:pPr marL="0" indent="0">
              <a:buNone/>
            </a:pPr>
            <a:endParaRPr lang="en-GB" b="1" dirty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BE12D95-E880-5C96-778D-FF051D5DB32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b="1" dirty="0"/>
              <a:t>Machine Learning:</a:t>
            </a:r>
          </a:p>
          <a:p>
            <a:pPr lvl="1"/>
            <a:r>
              <a:rPr lang="en-GB" dirty="0"/>
              <a:t>Random Forest</a:t>
            </a:r>
          </a:p>
          <a:p>
            <a:pPr lvl="1"/>
            <a:r>
              <a:rPr lang="en-GB" dirty="0"/>
              <a:t>Gradient Boosting</a:t>
            </a:r>
          </a:p>
          <a:p>
            <a:pPr lvl="1"/>
            <a:r>
              <a:rPr lang="en-GB" b="1" dirty="0"/>
              <a:t>Features: </a:t>
            </a:r>
            <a:r>
              <a:rPr lang="en-GB" dirty="0"/>
              <a:t>Lag features, calendar (day, month, weekday), and rolling &amp; expanding statistics.</a:t>
            </a:r>
          </a:p>
          <a:p>
            <a:r>
              <a:rPr lang="en-GB" b="1" dirty="0"/>
              <a:t>Neural Forecast:</a:t>
            </a:r>
          </a:p>
          <a:p>
            <a:pPr lvl="1"/>
            <a:r>
              <a:rPr lang="en-GB" dirty="0"/>
              <a:t>NBEATS</a:t>
            </a:r>
          </a:p>
          <a:p>
            <a:pPr lvl="1"/>
            <a:r>
              <a:rPr lang="en-GB" dirty="0" err="1"/>
              <a:t>NLinear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2062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85E0AB-5DE7-D68A-E0B6-C1D13C47D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Evaluation Strategy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73D5A5-C543-94FA-5219-1A911BD85B9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Time-Based Evaluation</a:t>
            </a:r>
          </a:p>
          <a:p>
            <a:r>
              <a:rPr lang="en-GB" dirty="0"/>
              <a:t>Chronological split (no shuffling)</a:t>
            </a:r>
          </a:p>
          <a:p>
            <a:r>
              <a:rPr lang="en-GB" dirty="0"/>
              <a:t>Time series-aware validation</a:t>
            </a:r>
          </a:p>
          <a:p>
            <a:pPr marL="0" indent="0">
              <a:buNone/>
            </a:pPr>
            <a:r>
              <a:rPr lang="en-GB" b="1" dirty="0"/>
              <a:t>Data Split</a:t>
            </a:r>
          </a:p>
          <a:p>
            <a:r>
              <a:rPr lang="en-GB" dirty="0"/>
              <a:t>Train</a:t>
            </a:r>
          </a:p>
          <a:p>
            <a:r>
              <a:rPr lang="en-GB" dirty="0"/>
              <a:t>Validation: 31 days</a:t>
            </a:r>
          </a:p>
          <a:p>
            <a:r>
              <a:rPr lang="en-GB" dirty="0"/>
              <a:t>Test: 31 days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1B0D8E2-1D8E-E053-E756-9C407D5847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Evaluation Metrics: </a:t>
            </a:r>
            <a:r>
              <a:rPr lang="en-GB" dirty="0"/>
              <a:t>MAE (primary metric), RMSE, MAPE, OPE, R2</a:t>
            </a:r>
          </a:p>
          <a:p>
            <a:pPr marL="0" indent="0">
              <a:buNone/>
            </a:pPr>
            <a:r>
              <a:rPr lang="en-GB" b="1" dirty="0"/>
              <a:t>Model Selection</a:t>
            </a:r>
          </a:p>
          <a:p>
            <a:r>
              <a:rPr lang="en-GB" dirty="0"/>
              <a:t>Best model per family: lowest MAE on validation.</a:t>
            </a:r>
          </a:p>
          <a:p>
            <a:r>
              <a:rPr lang="en-GB" dirty="0"/>
              <a:t>Final forecast: best non-baseline model.</a:t>
            </a:r>
          </a:p>
        </p:txBody>
      </p:sp>
    </p:spTree>
    <p:extLst>
      <p:ext uri="{BB962C8B-B14F-4D97-AF65-F5344CB8AC3E}">
        <p14:creationId xmlns:p14="http://schemas.microsoft.com/office/powerpoint/2010/main" val="18196679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EA39E2-F78C-1BA0-D34B-1BFB19A4D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Results &amp; Forecast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BEF5E2-BEF8-4AC4-F1B8-B88BDEA14B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January 2026 Forecast</a:t>
            </a:r>
          </a:p>
          <a:p>
            <a:r>
              <a:rPr lang="en-GB" dirty="0"/>
              <a:t>Best overall model selected across technologies </a:t>
            </a:r>
          </a:p>
          <a:p>
            <a:r>
              <a:rPr lang="en-GB" dirty="0"/>
              <a:t>Daily forecast for Jan 2026</a:t>
            </a:r>
          </a:p>
          <a:p>
            <a:r>
              <a:rPr lang="en-GB" dirty="0"/>
              <a:t>Outputs: </a:t>
            </a:r>
          </a:p>
          <a:p>
            <a:pPr lvl="1"/>
            <a:r>
              <a:rPr lang="en-GB" dirty="0"/>
              <a:t>CSV (and Parquet if available)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76FBDE1-4D02-C29F-AF06-FAEC019CB0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Uncertainty</a:t>
            </a:r>
          </a:p>
          <a:p>
            <a:r>
              <a:rPr lang="en-GB" dirty="0"/>
              <a:t>Empirical prediction intervals </a:t>
            </a:r>
          </a:p>
          <a:p>
            <a:r>
              <a:rPr lang="en-GB" dirty="0"/>
              <a:t>Based on validation residual quantiles (95%)</a:t>
            </a:r>
          </a:p>
        </p:txBody>
      </p:sp>
    </p:spTree>
    <p:extLst>
      <p:ext uri="{BB962C8B-B14F-4D97-AF65-F5344CB8AC3E}">
        <p14:creationId xmlns:p14="http://schemas.microsoft.com/office/powerpoint/2010/main" val="36898350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2D2313-E4F2-A92B-B35C-585571590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Value &amp; Conclusion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62105F7-D478-7E13-EDE7-CCB8217493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Value Generated: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Better planning of energy balance and reserves</a:t>
            </a:r>
          </a:p>
          <a:p>
            <a:pPr lvl="1"/>
            <a:r>
              <a:rPr lang="en-GB" dirty="0"/>
              <a:t>Improved risk-aware decision-making</a:t>
            </a:r>
          </a:p>
          <a:p>
            <a:pPr lvl="1"/>
            <a:r>
              <a:rPr lang="en-GB" dirty="0"/>
              <a:t>Useful even with uncertainty</a:t>
            </a:r>
          </a:p>
          <a:p>
            <a:r>
              <a:rPr lang="en-GB" b="1" dirty="0"/>
              <a:t>Conclusion:</a:t>
            </a:r>
          </a:p>
        </p:txBody>
      </p:sp>
    </p:spTree>
    <p:extLst>
      <p:ext uri="{BB962C8B-B14F-4D97-AF65-F5344CB8AC3E}">
        <p14:creationId xmlns:p14="http://schemas.microsoft.com/office/powerpoint/2010/main" val="182421639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523</TotalTime>
  <Words>688</Words>
  <Application>Microsoft Office PowerPoint</Application>
  <PresentationFormat>Panorámica</PresentationFormat>
  <Paragraphs>110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Tema de Office</vt:lpstr>
      <vt:lpstr>Forecasting Daily Electricity Generation in Spain </vt:lpstr>
      <vt:lpstr>Team &amp; Contributions. </vt:lpstr>
      <vt:lpstr>Business Problem</vt:lpstr>
      <vt:lpstr>Solution Overview. General</vt:lpstr>
      <vt:lpstr>Solution Overview (General)</vt:lpstr>
      <vt:lpstr>Solution Overview. (Code Workflow)</vt:lpstr>
      <vt:lpstr>Dataset Info</vt:lpstr>
      <vt:lpstr>Data Engineering. </vt:lpstr>
      <vt:lpstr>Model Families Tested. FALTA el why</vt:lpstr>
      <vt:lpstr>Evaluation Strategy</vt:lpstr>
      <vt:lpstr>Results &amp; Forecast</vt:lpstr>
      <vt:lpstr>Value &amp; 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MIREIA MONTOYA BUENDIA</dc:creator>
  <cp:lastModifiedBy>MIREIA MONTOYA BUENDIA</cp:lastModifiedBy>
  <cp:revision>4</cp:revision>
  <dcterms:created xsi:type="dcterms:W3CDTF">2025-12-29T20:01:16Z</dcterms:created>
  <dcterms:modified xsi:type="dcterms:W3CDTF">2026-01-07T12:19:38Z</dcterms:modified>
</cp:coreProperties>
</file>