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8" r:id="rId5"/>
    <p:sldId id="274" r:id="rId6"/>
    <p:sldId id="275" r:id="rId7"/>
    <p:sldId id="271" r:id="rId8"/>
    <p:sldId id="270" r:id="rId9"/>
    <p:sldId id="269" r:id="rId10"/>
    <p:sldId id="276" r:id="rId11"/>
    <p:sldId id="262" r:id="rId12"/>
    <p:sldId id="264" r:id="rId13"/>
    <p:sldId id="272" r:id="rId14"/>
    <p:sldId id="277" r:id="rId15"/>
    <p:sldId id="266" r:id="rId16"/>
    <p:sldId id="267" r:id="rId17"/>
    <p:sldId id="278" r:id="rId18"/>
    <p:sldId id="280" r:id="rId19"/>
    <p:sldId id="279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4200" dirty="0"/>
              <a:t>Forecasting Spain Daily Electricity Generation (REE) January 2026</a:t>
            </a:r>
          </a:p>
        </p:txBody>
      </p:sp>
      <p:pic>
        <p:nvPicPr>
          <p:cNvPr id="5" name="Picture 4" descr="Una granja de paneles solares">
            <a:extLst>
              <a:ext uri="{FF2B5EF4-FFF2-40B4-BE49-F238E27FC236}">
                <a16:creationId xmlns:a16="http://schemas.microsoft.com/office/drawing/2014/main" id="{ABE6EBB4-BA15-B696-8C3E-613C2F97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88" r="229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Capstone Forecasting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Time Series Analysis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Top-7 generation technologies | Daily forecasts +     </a:t>
            </a:r>
            <a:r>
              <a:rPr lang="en-US" sz="2200" dirty="0" err="1"/>
              <a:t>uncertainity</a:t>
            </a:r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Team: Spanish Forecasters </a:t>
            </a:r>
          </a:p>
          <a:p>
            <a:pPr algn="l"/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>
            <a:normAutofit/>
          </a:bodyPr>
          <a:lstStyle/>
          <a:p>
            <a:r>
              <a:rPr lang="en-GB" sz="5200"/>
              <a:t>Team &amp; Contributions.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98626"/>
            <a:ext cx="5158427" cy="3730460"/>
          </a:xfrm>
        </p:spPr>
        <p:txBody>
          <a:bodyPr>
            <a:normAutofit/>
          </a:bodyPr>
          <a:lstStyle/>
          <a:p>
            <a:r>
              <a:rPr lang="en-GB" sz="2000" dirty="0"/>
              <a:t>Enrique Ruiz:</a:t>
            </a:r>
          </a:p>
          <a:p>
            <a:pPr lvl="1"/>
            <a:r>
              <a:rPr lang="en-GB" sz="2000" dirty="0"/>
              <a:t>Data preparation (CSV </a:t>
            </a:r>
            <a:r>
              <a:rPr lang="en-GB" sz="2000" dirty="0">
                <a:sym typeface="Wingdings" panose="05000000000000000000" pitchFamily="2" charset="2"/>
              </a:rPr>
              <a:t> clean panel dataset)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Forecasting pipeline implementation (train/</a:t>
            </a:r>
            <a:r>
              <a:rPr lang="en-GB" sz="2000" dirty="0" err="1">
                <a:sym typeface="Wingdings" panose="05000000000000000000" pitchFamily="2" charset="2"/>
              </a:rPr>
              <a:t>val</a:t>
            </a:r>
            <a:r>
              <a:rPr lang="en-GB" sz="2000" dirty="0">
                <a:sym typeface="Wingdings" panose="05000000000000000000" pitchFamily="2" charset="2"/>
              </a:rPr>
              <a:t>/test split)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Evaluation and model selection (metrics + plots)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Problem description (what we want to predict and why it matters)</a:t>
            </a:r>
          </a:p>
          <a:p>
            <a:pPr marL="457200" lvl="1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9154" y="2398626"/>
            <a:ext cx="5164645" cy="3730460"/>
          </a:xfrm>
        </p:spPr>
        <p:txBody>
          <a:bodyPr>
            <a:normAutofit/>
          </a:bodyPr>
          <a:lstStyle/>
          <a:p>
            <a:r>
              <a:rPr lang="en-GB" sz="2000" dirty="0" err="1"/>
              <a:t>Mireia</a:t>
            </a:r>
            <a:r>
              <a:rPr lang="en-GB" sz="2000" dirty="0"/>
              <a:t> Montoya:</a:t>
            </a:r>
          </a:p>
          <a:p>
            <a:pPr lvl="1"/>
            <a:r>
              <a:rPr lang="en-GB" sz="2000" dirty="0"/>
              <a:t>Models (Baseline, </a:t>
            </a:r>
            <a:r>
              <a:rPr lang="en-GB" sz="2000" dirty="0" err="1"/>
              <a:t>AutoARIMA</a:t>
            </a:r>
            <a:r>
              <a:rPr lang="en-GB" sz="2000" dirty="0"/>
              <a:t>, </a:t>
            </a:r>
            <a:r>
              <a:rPr lang="en-GB" sz="2000" dirty="0" err="1"/>
              <a:t>MLForecast</a:t>
            </a:r>
            <a:r>
              <a:rPr lang="en-GB" sz="2000" dirty="0"/>
              <a:t>, </a:t>
            </a:r>
            <a:r>
              <a:rPr lang="en-GB" sz="2000" dirty="0" err="1"/>
              <a:t>NeuralForecast</a:t>
            </a:r>
            <a:r>
              <a:rPr lang="en-GB" sz="2000" dirty="0"/>
              <a:t>)</a:t>
            </a:r>
          </a:p>
          <a:p>
            <a:pPr lvl="1"/>
            <a:r>
              <a:rPr lang="en-GB" sz="2000" dirty="0"/>
              <a:t>Final forecasts export (Jan 2026 CSV/Parquet)</a:t>
            </a:r>
          </a:p>
          <a:p>
            <a:pPr lvl="1"/>
            <a:r>
              <a:rPr lang="en-GB" sz="2000" dirty="0"/>
              <a:t>Data </a:t>
            </a:r>
            <a:r>
              <a:rPr lang="en-GB" sz="2000" dirty="0" err="1"/>
              <a:t>exporation</a:t>
            </a:r>
            <a:r>
              <a:rPr lang="en-GB" sz="2000" dirty="0"/>
              <a:t> and  insights</a:t>
            </a:r>
          </a:p>
          <a:p>
            <a:pPr lvl="1"/>
            <a:r>
              <a:rPr lang="en-GB" sz="2000" dirty="0"/>
              <a:t>Results interpretation + deck + pitch</a:t>
            </a:r>
          </a:p>
          <a:p>
            <a:pPr marL="457200" lvl="1" indent="0">
              <a:buNone/>
            </a:pPr>
            <a:endParaRPr lang="en-GB" sz="2000" dirty="0"/>
          </a:p>
          <a:p>
            <a:pPr marL="457200" lvl="1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3971FC-2971-817E-12BE-76911B05A2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970520" cy="4351338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/>
              <a:t>Problem</a:t>
            </a:r>
            <a:r>
              <a:rPr lang="es-ES" b="1" dirty="0"/>
              <a:t>: </a:t>
            </a:r>
            <a:r>
              <a:rPr lang="es-ES" b="1" dirty="0" err="1"/>
              <a:t>Why</a:t>
            </a:r>
            <a:r>
              <a:rPr lang="es-ES" b="1" dirty="0"/>
              <a:t> </a:t>
            </a:r>
            <a:r>
              <a:rPr lang="es-ES" b="1" dirty="0" err="1"/>
              <a:t>forecast</a:t>
            </a:r>
            <a:r>
              <a:rPr lang="es-ES" b="1" dirty="0"/>
              <a:t> </a:t>
            </a:r>
            <a:r>
              <a:rPr lang="es-ES" b="1" dirty="0" err="1"/>
              <a:t>generation</a:t>
            </a:r>
            <a:r>
              <a:rPr lang="es-ES" b="1" dirty="0"/>
              <a:t>?</a:t>
            </a:r>
          </a:p>
          <a:p>
            <a:r>
              <a:rPr lang="es-ES" dirty="0" err="1"/>
              <a:t>Electricity</a:t>
            </a:r>
            <a:r>
              <a:rPr lang="es-ES" dirty="0"/>
              <a:t> </a:t>
            </a:r>
            <a:r>
              <a:rPr lang="es-ES" dirty="0" err="1"/>
              <a:t>generation</a:t>
            </a:r>
            <a:r>
              <a:rPr lang="es-ES" dirty="0"/>
              <a:t> </a:t>
            </a:r>
            <a:r>
              <a:rPr lang="es-ES" dirty="0" err="1"/>
              <a:t>changes</a:t>
            </a:r>
            <a:r>
              <a:rPr lang="es-ES" dirty="0"/>
              <a:t> </a:t>
            </a:r>
            <a:r>
              <a:rPr lang="es-ES" dirty="0" err="1"/>
              <a:t>daily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planning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is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hard</a:t>
            </a:r>
            <a:endParaRPr lang="es-ES" dirty="0">
              <a:sym typeface="Wingdings" panose="05000000000000000000" pitchFamily="2" charset="2"/>
            </a:endParaRP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 err="1">
                <a:sym typeface="Wingdings" panose="05000000000000000000" pitchFamily="2" charset="2"/>
              </a:rPr>
              <a:t>Forecasts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help</a:t>
            </a:r>
            <a:r>
              <a:rPr lang="es-ES" dirty="0">
                <a:sym typeface="Wingdings" panose="05000000000000000000" pitchFamily="2" charset="2"/>
              </a:rPr>
              <a:t> anticípate </a:t>
            </a:r>
            <a:r>
              <a:rPr lang="es-ES" dirty="0" err="1">
                <a:sym typeface="Wingdings" panose="05000000000000000000" pitchFamily="2" charset="2"/>
              </a:rPr>
              <a:t>high</a:t>
            </a:r>
            <a:r>
              <a:rPr lang="es-ES" dirty="0">
                <a:sym typeface="Wingdings" panose="05000000000000000000" pitchFamily="2" charset="2"/>
              </a:rPr>
              <a:t>/</a:t>
            </a:r>
            <a:r>
              <a:rPr lang="es-ES" dirty="0" err="1">
                <a:sym typeface="Wingdings" panose="05000000000000000000" pitchFamily="2" charset="2"/>
              </a:rPr>
              <a:t>low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production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days</a:t>
            </a:r>
            <a:endParaRPr lang="es-ES" dirty="0">
              <a:sym typeface="Wingdings" panose="05000000000000000000" pitchFamily="2" charset="2"/>
            </a:endParaRP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 err="1">
                <a:sym typeface="Wingdings" panose="05000000000000000000" pitchFamily="2" charset="2"/>
              </a:rPr>
              <a:t>We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forecast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daily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generation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by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technology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Jan 2026</a:t>
            </a:r>
          </a:p>
          <a:p>
            <a:pPr marL="0" indent="0">
              <a:buNone/>
            </a:pPr>
            <a:endParaRPr lang="es-ES" dirty="0"/>
          </a:p>
          <a:p>
            <a:endParaRPr lang="es-ES" dirty="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8C3D1725-1630-B87E-5748-BFD7AD1D6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</a:t>
            </a:r>
          </a:p>
        </p:txBody>
      </p:sp>
      <p:pic>
        <p:nvPicPr>
          <p:cNvPr id="1032" name="Picture 8" descr="Calendar Icon PNG Images, Vectors Free Download - Pngtree">
            <a:extLst>
              <a:ext uri="{FF2B5EF4-FFF2-40B4-BE49-F238E27FC236}">
                <a16:creationId xmlns:a16="http://schemas.microsoft.com/office/drawing/2014/main" id="{7D2A40DC-7FC5-7064-BDDA-72C15C09E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675" y="254031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3156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CDD8E0-E6E6-5F10-E59D-A65540973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315468"/>
            <a:ext cx="6486144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8278E9-FDD9-5B7F-EF03-07B1DB6B5A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9373" y="279196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Problem: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Electricity generation in Spain is highly variable due to weather conditions, demand fluctuations, and seasonal patterns. This variability introduces uncertainty in grid operation, generation planning, and energy market decisions.</a:t>
            </a:r>
          </a:p>
          <a:p>
            <a:r>
              <a:rPr lang="en-US" sz="1400" b="1" dirty="0"/>
              <a:t>Goal 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Forecast daily electricity generation by production technology for January 2026 to support better planning decisions, reduce operational risk, and minimize economic losses caused by unexpected changes in generation.</a:t>
            </a:r>
          </a:p>
        </p:txBody>
      </p:sp>
      <p:pic>
        <p:nvPicPr>
          <p:cNvPr id="6" name="Marcador de contenido 5" descr="Gráfico&#10;&#10;El contenido generado por IA puede ser incorrecto.">
            <a:extLst>
              <a:ext uri="{FF2B5EF4-FFF2-40B4-BE49-F238E27FC236}">
                <a16:creationId xmlns:a16="http://schemas.microsoft.com/office/drawing/2014/main" id="{3D6E01D1-9C43-F922-1E44-E5E5F10303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023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E6B573-5EAC-0EC9-E641-DB9D929A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2283" y="-97473"/>
            <a:ext cx="3932237" cy="1600200"/>
          </a:xfrm>
        </p:spPr>
        <p:txBody>
          <a:bodyPr>
            <a:normAutofit/>
          </a:bodyPr>
          <a:lstStyle/>
          <a:p>
            <a:r>
              <a:rPr lang="es-ES" sz="4400" b="1" dirty="0" err="1"/>
              <a:t>Value</a:t>
            </a:r>
            <a:r>
              <a:rPr lang="es-ES" sz="4400" b="1" dirty="0"/>
              <a:t> (</a:t>
            </a:r>
            <a:r>
              <a:rPr lang="es-ES" sz="4400" b="1" dirty="0" err="1"/>
              <a:t>Impact</a:t>
            </a:r>
            <a:r>
              <a:rPr lang="es-ES" sz="4400" b="1" dirty="0"/>
              <a:t>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6017C4-A04F-F55B-056D-94EB1DB97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2722" y="1945164"/>
            <a:ext cx="4739638" cy="1862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b="1" dirty="0" err="1"/>
              <a:t>Why</a:t>
            </a:r>
            <a:r>
              <a:rPr lang="es-ES" sz="2400" b="1" dirty="0"/>
              <a:t> </a:t>
            </a:r>
            <a:r>
              <a:rPr lang="es-ES" sz="2400" b="1" dirty="0" err="1"/>
              <a:t>uncertainity</a:t>
            </a:r>
            <a:r>
              <a:rPr lang="es-ES" sz="2400" b="1" dirty="0"/>
              <a:t> </a:t>
            </a:r>
            <a:r>
              <a:rPr lang="es-ES" sz="2400" b="1" dirty="0" err="1"/>
              <a:t>is</a:t>
            </a:r>
            <a:r>
              <a:rPr lang="es-ES" sz="2400" b="1" dirty="0"/>
              <a:t> </a:t>
            </a:r>
            <a:r>
              <a:rPr lang="es-ES" sz="2400" b="1" dirty="0" err="1"/>
              <a:t>useful</a:t>
            </a:r>
            <a:r>
              <a:rPr lang="es-ES" sz="2400" b="1" dirty="0"/>
              <a:t>?</a:t>
            </a:r>
          </a:p>
          <a:p>
            <a:r>
              <a:rPr lang="es-ES" sz="2400" dirty="0" err="1"/>
              <a:t>The</a:t>
            </a:r>
            <a:r>
              <a:rPr lang="es-ES" sz="2400" dirty="0"/>
              <a:t> Interval </a:t>
            </a:r>
            <a:r>
              <a:rPr lang="es-ES" sz="2400" dirty="0" err="1"/>
              <a:t>tells</a:t>
            </a:r>
            <a:r>
              <a:rPr lang="es-ES" sz="2400" dirty="0"/>
              <a:t> </a:t>
            </a:r>
            <a:r>
              <a:rPr lang="es-ES" sz="2400" dirty="0" err="1"/>
              <a:t>us</a:t>
            </a:r>
            <a:r>
              <a:rPr lang="es-ES" sz="2400" dirty="0"/>
              <a:t> </a:t>
            </a:r>
            <a:r>
              <a:rPr lang="es-ES" sz="2400" dirty="0" err="1"/>
              <a:t>if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prediction</a:t>
            </a:r>
            <a:r>
              <a:rPr lang="es-ES" sz="2400" dirty="0"/>
              <a:t> </a:t>
            </a:r>
            <a:r>
              <a:rPr lang="es-ES" sz="2400" dirty="0" err="1"/>
              <a:t>is</a:t>
            </a:r>
            <a:r>
              <a:rPr lang="es-ES" sz="2400" dirty="0"/>
              <a:t> </a:t>
            </a:r>
            <a:r>
              <a:rPr lang="es-ES" sz="2400" dirty="0" err="1"/>
              <a:t>reliable</a:t>
            </a:r>
            <a:r>
              <a:rPr lang="es-ES" sz="2400" dirty="0"/>
              <a:t> </a:t>
            </a:r>
            <a:r>
              <a:rPr lang="es-ES" sz="2400" dirty="0" err="1"/>
              <a:t>or</a:t>
            </a:r>
            <a:r>
              <a:rPr lang="es-ES" sz="2400" dirty="0"/>
              <a:t> </a:t>
            </a:r>
            <a:r>
              <a:rPr lang="es-ES" sz="2400" dirty="0" err="1"/>
              <a:t>risky</a:t>
            </a:r>
            <a:endParaRPr lang="es-ES" sz="24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0259AEB-B82F-0131-0D14-5EC38B3FFB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82613" y="1901825"/>
            <a:ext cx="5513387" cy="3811588"/>
          </a:xfrm>
        </p:spPr>
        <p:txBody>
          <a:bodyPr>
            <a:normAutofit/>
          </a:bodyPr>
          <a:lstStyle/>
          <a:p>
            <a:r>
              <a:rPr lang="es-ES" sz="2400" b="1" dirty="0" err="1"/>
              <a:t>What</a:t>
            </a:r>
            <a:r>
              <a:rPr lang="es-ES" sz="2400" b="1" dirty="0"/>
              <a:t> can </a:t>
            </a:r>
            <a:r>
              <a:rPr lang="es-ES" sz="2400" b="1" dirty="0" err="1"/>
              <a:t>we</a:t>
            </a:r>
            <a:r>
              <a:rPr lang="es-ES" sz="2400" b="1" dirty="0"/>
              <a:t> do </a:t>
            </a:r>
            <a:r>
              <a:rPr lang="es-ES" sz="2400" b="1" dirty="0" err="1"/>
              <a:t>with</a:t>
            </a:r>
            <a:r>
              <a:rPr lang="es-ES" sz="2400" b="1" dirty="0"/>
              <a:t> </a:t>
            </a:r>
            <a:r>
              <a:rPr lang="es-ES" sz="2400" b="1" dirty="0" err="1"/>
              <a:t>the</a:t>
            </a:r>
            <a:r>
              <a:rPr lang="es-ES" sz="2400" b="1" dirty="0"/>
              <a:t> </a:t>
            </a:r>
            <a:r>
              <a:rPr lang="es-ES" sz="2400" b="1" dirty="0" err="1"/>
              <a:t>forecast</a:t>
            </a:r>
            <a:r>
              <a:rPr lang="es-ES" sz="2400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/>
              <a:t>Plan </a:t>
            </a:r>
            <a:r>
              <a:rPr lang="es-ES" sz="2400" dirty="0" err="1"/>
              <a:t>operations</a:t>
            </a:r>
            <a:r>
              <a:rPr lang="es-ES" sz="2400" dirty="0"/>
              <a:t> </a:t>
            </a:r>
            <a:r>
              <a:rPr lang="es-ES" sz="2400" dirty="0" err="1"/>
              <a:t>for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next</a:t>
            </a:r>
            <a:r>
              <a:rPr lang="es-ES" sz="2400" dirty="0"/>
              <a:t> </a:t>
            </a:r>
            <a:r>
              <a:rPr lang="es-ES" sz="2400" dirty="0" err="1"/>
              <a:t>weeks</a:t>
            </a:r>
            <a:endParaRPr lang="es-E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/>
              <a:t>Decide </a:t>
            </a:r>
            <a:r>
              <a:rPr lang="es-ES" sz="2400" dirty="0" err="1"/>
              <a:t>when</a:t>
            </a:r>
            <a:r>
              <a:rPr lang="es-ES" sz="2400" dirty="0"/>
              <a:t> </a:t>
            </a:r>
            <a:r>
              <a:rPr lang="es-ES" sz="2400" dirty="0" err="1"/>
              <a:t>to</a:t>
            </a:r>
            <a:r>
              <a:rPr lang="es-ES" sz="2400" dirty="0"/>
              <a:t> use </a:t>
            </a:r>
            <a:r>
              <a:rPr lang="es-ES" sz="2400" dirty="0" err="1"/>
              <a:t>backup</a:t>
            </a:r>
            <a:r>
              <a:rPr lang="es-ES" sz="2400" dirty="0"/>
              <a:t> </a:t>
            </a:r>
            <a:r>
              <a:rPr lang="es-ES" sz="2400" dirty="0" err="1"/>
              <a:t>sources</a:t>
            </a:r>
            <a:endParaRPr lang="es-E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/>
              <a:t>Plan </a:t>
            </a:r>
            <a:r>
              <a:rPr lang="es-ES" sz="2400" dirty="0" err="1"/>
              <a:t>maintenance</a:t>
            </a:r>
            <a:r>
              <a:rPr lang="es-ES" sz="2400" dirty="0"/>
              <a:t> </a:t>
            </a:r>
            <a:r>
              <a:rPr lang="es-ES" sz="2400" dirty="0" err="1"/>
              <a:t>on</a:t>
            </a:r>
            <a:r>
              <a:rPr lang="es-ES" sz="2400" dirty="0"/>
              <a:t> </a:t>
            </a:r>
            <a:r>
              <a:rPr lang="es-ES" sz="2400" dirty="0" err="1"/>
              <a:t>low-risk</a:t>
            </a:r>
            <a:r>
              <a:rPr lang="es-ES" sz="2400" dirty="0"/>
              <a:t> </a:t>
            </a:r>
            <a:r>
              <a:rPr lang="es-ES" sz="2400" dirty="0" err="1"/>
              <a:t>days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35917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85F54A-6991-0953-5E62-D0BB038F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b="1" dirty="0"/>
              <a:t>DATASET INFO</a:t>
            </a:r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E2EC0749-63FE-D9AA-80BA-9E478FEE121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12395254"/>
              </p:ext>
            </p:extLst>
          </p:nvPr>
        </p:nvGraphicFramePr>
        <p:xfrm>
          <a:off x="731520" y="1825625"/>
          <a:ext cx="10622280" cy="2304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1140">
                  <a:extLst>
                    <a:ext uri="{9D8B030D-6E8A-4147-A177-3AD203B41FA5}">
                      <a16:colId xmlns:a16="http://schemas.microsoft.com/office/drawing/2014/main" val="2064073013"/>
                    </a:ext>
                  </a:extLst>
                </a:gridCol>
                <a:gridCol w="5311140">
                  <a:extLst>
                    <a:ext uri="{9D8B030D-6E8A-4147-A177-3AD203B41FA5}">
                      <a16:colId xmlns:a16="http://schemas.microsoft.com/office/drawing/2014/main" val="2794407617"/>
                    </a:ext>
                  </a:extLst>
                </a:gridCol>
              </a:tblGrid>
              <a:tr h="433026">
                <a:tc>
                  <a:txBody>
                    <a:bodyPr/>
                    <a:lstStyle/>
                    <a:p>
                      <a:r>
                        <a:rPr lang="es-ES" dirty="0" err="1"/>
                        <a:t>Item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Value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774266"/>
                  </a:ext>
                </a:extLst>
              </a:tr>
              <a:tr h="467847">
                <a:tc>
                  <a:txBody>
                    <a:bodyPr/>
                    <a:lstStyle/>
                    <a:p>
                      <a:r>
                        <a:rPr lang="es-ES" dirty="0" err="1"/>
                        <a:t>Source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Spanish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Electic</a:t>
                      </a:r>
                      <a:r>
                        <a:rPr lang="es-ES" dirty="0"/>
                        <a:t> Network (REE)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188542"/>
                  </a:ext>
                </a:extLst>
              </a:tr>
              <a:tr h="467847">
                <a:tc>
                  <a:txBody>
                    <a:bodyPr/>
                    <a:lstStyle/>
                    <a:p>
                      <a:r>
                        <a:rPr lang="es-ES" dirty="0" err="1"/>
                        <a:t>Frequency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Daily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669828"/>
                  </a:ext>
                </a:extLst>
              </a:tr>
              <a:tr h="467847">
                <a:tc>
                  <a:txBody>
                    <a:bodyPr/>
                    <a:lstStyle/>
                    <a:p>
                      <a:r>
                        <a:rPr lang="es-ES" dirty="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Electricity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Generation</a:t>
                      </a:r>
                      <a:r>
                        <a:rPr lang="es-ES" dirty="0"/>
                        <a:t> (GWh)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640588"/>
                  </a:ext>
                </a:extLst>
              </a:tr>
              <a:tr h="467847">
                <a:tc>
                  <a:txBody>
                    <a:bodyPr/>
                    <a:lstStyle/>
                    <a:p>
                      <a:r>
                        <a:rPr lang="es-ES" dirty="0" err="1"/>
                        <a:t>Level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Production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technology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749309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EE6F519A-A1D2-CE19-3FA2-157643255E3B}"/>
              </a:ext>
            </a:extLst>
          </p:cNvPr>
          <p:cNvSpPr txBox="1"/>
          <p:nvPr/>
        </p:nvSpPr>
        <p:spPr>
          <a:xfrm>
            <a:off x="731520" y="4508816"/>
            <a:ext cx="8564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Focus </a:t>
            </a:r>
            <a:r>
              <a:rPr lang="es-ES" sz="2000" b="1" dirty="0">
                <a:sym typeface="Wingdings" panose="05000000000000000000" pitchFamily="2" charset="2"/>
              </a:rPr>
              <a:t></a:t>
            </a:r>
            <a:r>
              <a:rPr lang="es-ES" sz="2000" b="1" dirty="0"/>
              <a:t>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r>
              <a:rPr lang="es-ES" sz="2000" dirty="0"/>
              <a:t> </a:t>
            </a:r>
            <a:r>
              <a:rPr lang="es-ES" sz="2000" dirty="0" err="1"/>
              <a:t>the</a:t>
            </a:r>
            <a:r>
              <a:rPr lang="es-ES" sz="2000" dirty="0"/>
              <a:t> Top-7 </a:t>
            </a:r>
            <a:r>
              <a:rPr lang="es-ES" sz="2000" dirty="0" err="1"/>
              <a:t>techonlogies</a:t>
            </a:r>
            <a:r>
              <a:rPr lang="es-ES" sz="2000" dirty="0"/>
              <a:t> (</a:t>
            </a:r>
            <a:r>
              <a:rPr lang="es-ES" sz="2000" dirty="0" err="1"/>
              <a:t>highest</a:t>
            </a:r>
            <a:r>
              <a:rPr lang="es-ES" sz="2000" dirty="0"/>
              <a:t> </a:t>
            </a:r>
            <a:r>
              <a:rPr lang="es-ES" sz="2000" dirty="0" err="1"/>
              <a:t>average</a:t>
            </a:r>
            <a:r>
              <a:rPr lang="es-ES" sz="2000" dirty="0"/>
              <a:t> </a:t>
            </a:r>
            <a:r>
              <a:rPr lang="es-ES" sz="2000" dirty="0" err="1"/>
              <a:t>generation</a:t>
            </a:r>
            <a:r>
              <a:rPr lang="es-ES" sz="2000" dirty="0"/>
              <a:t>)</a:t>
            </a:r>
          </a:p>
          <a:p>
            <a:endParaRPr lang="es-ES" sz="2000" dirty="0"/>
          </a:p>
          <a:p>
            <a:r>
              <a:rPr lang="es-ES" sz="2000" b="1" dirty="0"/>
              <a:t>Date </a:t>
            </a:r>
            <a:r>
              <a:rPr lang="es-ES" sz="2000" b="1" dirty="0" err="1"/>
              <a:t>range</a:t>
            </a:r>
            <a:r>
              <a:rPr lang="es-ES" sz="2000" b="1" dirty="0"/>
              <a:t> </a:t>
            </a:r>
            <a:r>
              <a:rPr lang="es-ES" sz="2000" b="1" dirty="0">
                <a:sym typeface="Wingdings" panose="05000000000000000000" pitchFamily="2" charset="2"/>
              </a:rPr>
              <a:t> </a:t>
            </a:r>
            <a:r>
              <a:rPr lang="es-ES" sz="2000" dirty="0">
                <a:sym typeface="Wingdings" panose="05000000000000000000" pitchFamily="2" charset="2"/>
              </a:rPr>
              <a:t>01/01/2018 – 31/12/2025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852578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ED33C6C-B751-DC3B-71E1-DB4E433CA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80" y="1536065"/>
            <a:ext cx="534924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Advert:</a:t>
            </a:r>
          </a:p>
          <a:p>
            <a:pPr marL="0" indent="0">
              <a:buNone/>
            </a:pPr>
            <a:r>
              <a:rPr lang="en-GB" dirty="0"/>
              <a:t>As the dataset is from Spain, the features are written in Spanish. Translation: </a:t>
            </a:r>
          </a:p>
          <a:p>
            <a:r>
              <a:rPr lang="en-GB" b="1" dirty="0" err="1"/>
              <a:t>Carbón</a:t>
            </a:r>
            <a:r>
              <a:rPr lang="en-GB" b="1" dirty="0"/>
              <a:t>: </a:t>
            </a:r>
            <a:r>
              <a:rPr lang="en-GB" dirty="0"/>
              <a:t>coal</a:t>
            </a:r>
          </a:p>
          <a:p>
            <a:r>
              <a:rPr lang="en-GB" b="1" dirty="0"/>
              <a:t>Ciclo </a:t>
            </a:r>
            <a:r>
              <a:rPr lang="en-GB" b="1" dirty="0" err="1"/>
              <a:t>combinado</a:t>
            </a:r>
            <a:r>
              <a:rPr lang="en-GB" b="1" dirty="0"/>
              <a:t>: </a:t>
            </a:r>
            <a:r>
              <a:rPr lang="en-GB" dirty="0"/>
              <a:t>combined cycle</a:t>
            </a:r>
            <a:endParaRPr lang="en-GB" b="1" dirty="0"/>
          </a:p>
          <a:p>
            <a:r>
              <a:rPr lang="en-GB" b="1" dirty="0" err="1"/>
              <a:t>Cogeneración</a:t>
            </a:r>
            <a:r>
              <a:rPr lang="en-GB" b="1" dirty="0"/>
              <a:t>: </a:t>
            </a:r>
            <a:r>
              <a:rPr lang="en-GB" dirty="0"/>
              <a:t>cogeneration</a:t>
            </a:r>
            <a:endParaRPr lang="en-GB" b="1" dirty="0"/>
          </a:p>
          <a:p>
            <a:r>
              <a:rPr lang="en-GB" b="1" dirty="0" err="1"/>
              <a:t>Eólica</a:t>
            </a:r>
            <a:r>
              <a:rPr lang="en-GB" b="1" dirty="0"/>
              <a:t>: </a:t>
            </a:r>
            <a:r>
              <a:rPr lang="en-GB" dirty="0"/>
              <a:t>Eolic</a:t>
            </a:r>
            <a:endParaRPr lang="en-GB" b="1" dirty="0"/>
          </a:p>
          <a:p>
            <a:r>
              <a:rPr lang="en-GB" b="1" dirty="0" err="1"/>
              <a:t>Hidráulica</a:t>
            </a:r>
            <a:r>
              <a:rPr lang="en-GB" b="1" dirty="0"/>
              <a:t>: </a:t>
            </a:r>
            <a:r>
              <a:rPr lang="en-GB" dirty="0" err="1"/>
              <a:t>Hidraulic</a:t>
            </a:r>
            <a:r>
              <a:rPr lang="en-GB" dirty="0"/>
              <a:t> </a:t>
            </a:r>
            <a:endParaRPr lang="en-GB" b="1" dirty="0"/>
          </a:p>
          <a:p>
            <a:r>
              <a:rPr lang="en-GB" b="1" dirty="0"/>
              <a:t>Nuclear: </a:t>
            </a:r>
            <a:r>
              <a:rPr lang="en-GB" dirty="0"/>
              <a:t>nuclear </a:t>
            </a:r>
            <a:endParaRPr lang="en-GB" b="1" dirty="0"/>
          </a:p>
          <a:p>
            <a:r>
              <a:rPr lang="en-GB" b="1" dirty="0" err="1"/>
              <a:t>Solear</a:t>
            </a:r>
            <a:r>
              <a:rPr lang="en-GB" b="1" dirty="0"/>
              <a:t> </a:t>
            </a:r>
            <a:r>
              <a:rPr lang="en-GB" b="1" dirty="0" err="1"/>
              <a:t>fotovoltaica</a:t>
            </a:r>
            <a:r>
              <a:rPr lang="en-GB" b="1" dirty="0"/>
              <a:t>: </a:t>
            </a:r>
            <a:r>
              <a:rPr lang="en-GB" dirty="0"/>
              <a:t>Solar Photovoltaics </a:t>
            </a: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F1177D2-3E1F-938E-9617-1D4031D071B1}"/>
              </a:ext>
            </a:extLst>
          </p:cNvPr>
          <p:cNvSpPr txBox="1">
            <a:spLocks/>
          </p:cNvSpPr>
          <p:nvPr/>
        </p:nvSpPr>
        <p:spPr>
          <a:xfrm>
            <a:off x="838200" y="3781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/>
              <a:t>DATASET INFO</a:t>
            </a:r>
          </a:p>
        </p:txBody>
      </p:sp>
      <p:pic>
        <p:nvPicPr>
          <p:cNvPr id="2050" name="Picture 2" descr="Imágenes de Energía Nuclear | Descarga imágenes gratuitas en Unsplash">
            <a:extLst>
              <a:ext uri="{FF2B5EF4-FFF2-40B4-BE49-F238E27FC236}">
                <a16:creationId xmlns:a16="http://schemas.microsoft.com/office/drawing/2014/main" id="{681B0DB7-93BF-26FB-A103-87C789E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0141" y="1910700"/>
            <a:ext cx="6062839" cy="3411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9788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350D3-30BF-6837-F2FB-FBDB6602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(General)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7DD94E-7F8E-0585-321E-7099CABCFE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 b="1" dirty="0"/>
              <a:t>Business goal: </a:t>
            </a:r>
            <a:r>
              <a:rPr lang="en-GB" dirty="0"/>
              <a:t>forecast daily electricity generation (Top-7 technologies).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 panel data, full daily grid, missing values handled </a:t>
            </a:r>
          </a:p>
          <a:p>
            <a:pPr marL="514350" indent="-514350">
              <a:buAutoNum type="arabicPeriod"/>
            </a:pPr>
            <a:r>
              <a:rPr lang="en-GB" b="1" dirty="0"/>
              <a:t>Feature engineering: </a:t>
            </a:r>
            <a:r>
              <a:rPr lang="en-GB" dirty="0"/>
              <a:t>lags, calendar features and rolling statistics.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99A925-090D-C224-5A0C-26518CA594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4. Modelling: </a:t>
            </a:r>
            <a:r>
              <a:rPr lang="en-GB" dirty="0"/>
              <a:t>baselines, statistical (ARIMA), ML and neural models.</a:t>
            </a:r>
          </a:p>
          <a:p>
            <a:pPr marL="0" indent="0">
              <a:buNone/>
            </a:pPr>
            <a:r>
              <a:rPr lang="en-GB" b="1" dirty="0"/>
              <a:t>5. Evaluation: </a:t>
            </a:r>
            <a:r>
              <a:rPr lang="en-GB" dirty="0"/>
              <a:t>time-based Train/Val/Test split with error metrics. </a:t>
            </a:r>
          </a:p>
          <a:p>
            <a:pPr marL="0" indent="0">
              <a:buNone/>
            </a:pPr>
            <a:r>
              <a:rPr lang="en-GB" b="1" dirty="0"/>
              <a:t>6. Output: </a:t>
            </a:r>
            <a:r>
              <a:rPr lang="en-GB" dirty="0"/>
              <a:t>January 2026 forecast with uncertainty intervals and saved results.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410891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E9EC41-7E88-2489-FB33-88B5903BA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Overview. (Code Workflow)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D391234-3875-47F3-F6C8-77A74EC785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b="1" dirty="0"/>
              <a:t>Load data: </a:t>
            </a:r>
            <a:r>
              <a:rPr lang="en-GB" dirty="0"/>
              <a:t>read the prepared panel dataset (</a:t>
            </a:r>
            <a:r>
              <a:rPr lang="en-GB" dirty="0" err="1"/>
              <a:t>unique_id</a:t>
            </a:r>
            <a:r>
              <a:rPr lang="en-GB" dirty="0"/>
              <a:t>, ds, y). </a:t>
            </a:r>
          </a:p>
          <a:p>
            <a:pPr marL="514350" indent="-514350">
              <a:buAutoNum type="arabicPeriod"/>
            </a:pPr>
            <a:r>
              <a:rPr lang="en-GB" b="1" dirty="0"/>
              <a:t>Time split: </a:t>
            </a:r>
            <a:r>
              <a:rPr lang="en-GB" dirty="0"/>
              <a:t>Train / Validation / Test (last 31 + 31 days). </a:t>
            </a:r>
          </a:p>
          <a:p>
            <a:pPr marL="0" indent="0">
              <a:buNone/>
            </a:pPr>
            <a:r>
              <a:rPr lang="en-GB" b="1" dirty="0"/>
              <a:t>3. Train &amp; predict: </a:t>
            </a:r>
            <a:r>
              <a:rPr lang="en-GB" dirty="0"/>
              <a:t>fit models per technology and generate forecasts.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D090F4-9A0D-3B09-ABD2-A2389E7B37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4. Evaluate &amp; select: </a:t>
            </a:r>
            <a:r>
              <a:rPr lang="en-GB" dirty="0"/>
              <a:t>compute metrics and choose best model per family.</a:t>
            </a:r>
          </a:p>
          <a:p>
            <a:pPr marL="0" indent="0">
              <a:buNone/>
            </a:pPr>
            <a:r>
              <a:rPr lang="en-GB" b="1" dirty="0"/>
              <a:t>5. Visualize &amp; forecast: </a:t>
            </a:r>
            <a:r>
              <a:rPr lang="en-GB" dirty="0"/>
              <a:t>plot results and generate final Jan-2026 forecast.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660884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9FF2C-1FCB-7A40-C950-2FE990A43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9239" y="-21313"/>
            <a:ext cx="10515600" cy="1325563"/>
          </a:xfrm>
        </p:spPr>
        <p:txBody>
          <a:bodyPr/>
          <a:lstStyle/>
          <a:p>
            <a:r>
              <a:rPr lang="es-ES" b="1" dirty="0" err="1"/>
              <a:t>Insights</a:t>
            </a:r>
            <a:r>
              <a:rPr lang="es-ES" b="1" dirty="0"/>
              <a:t> </a:t>
            </a:r>
            <a:r>
              <a:rPr lang="es-ES" b="1" dirty="0" err="1"/>
              <a:t>from</a:t>
            </a:r>
            <a:r>
              <a:rPr lang="es-ES" b="1" dirty="0"/>
              <a:t> </a:t>
            </a:r>
            <a:r>
              <a:rPr lang="es-ES" b="1" dirty="0" err="1"/>
              <a:t>the</a:t>
            </a:r>
            <a:r>
              <a:rPr lang="es-ES" b="1" dirty="0"/>
              <a:t> data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B39340-8908-9DAD-9665-1F07AA4B46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90" y="1406434"/>
            <a:ext cx="4092993" cy="4951504"/>
          </a:xfrm>
        </p:spPr>
        <p:txBody>
          <a:bodyPr>
            <a:normAutofit lnSpcReduction="10000"/>
          </a:bodyPr>
          <a:lstStyle/>
          <a:p>
            <a:r>
              <a:rPr lang="es-ES" sz="2400" dirty="0"/>
              <a:t>High </a:t>
            </a:r>
            <a:r>
              <a:rPr lang="es-ES" sz="2400" dirty="0" err="1"/>
              <a:t>variability</a:t>
            </a:r>
            <a:r>
              <a:rPr lang="es-ES" sz="2400" dirty="0"/>
              <a:t>: total </a:t>
            </a:r>
            <a:r>
              <a:rPr lang="es-ES" sz="2400" dirty="0" err="1"/>
              <a:t>generation</a:t>
            </a:r>
            <a:r>
              <a:rPr lang="es-ES" sz="2400" dirty="0"/>
              <a:t> </a:t>
            </a:r>
            <a:r>
              <a:rPr lang="es-ES" sz="2400" dirty="0" err="1"/>
              <a:t>changes</a:t>
            </a:r>
            <a:r>
              <a:rPr lang="es-ES" sz="2400" dirty="0"/>
              <a:t> a </a:t>
            </a:r>
            <a:r>
              <a:rPr lang="es-ES" sz="2400" dirty="0" err="1"/>
              <a:t>lot</a:t>
            </a:r>
            <a:r>
              <a:rPr lang="es-ES" sz="2400" dirty="0"/>
              <a:t> </a:t>
            </a:r>
            <a:r>
              <a:rPr lang="es-ES" sz="2400" dirty="0" err="1"/>
              <a:t>day</a:t>
            </a:r>
            <a:r>
              <a:rPr lang="es-ES" sz="2400" dirty="0"/>
              <a:t> </a:t>
            </a:r>
            <a:r>
              <a:rPr lang="es-ES" sz="2400" dirty="0" err="1"/>
              <a:t>to</a:t>
            </a:r>
            <a:r>
              <a:rPr lang="es-ES" sz="2400" dirty="0"/>
              <a:t> </a:t>
            </a:r>
            <a:r>
              <a:rPr lang="es-ES" sz="2400" dirty="0" err="1"/>
              <a:t>day</a:t>
            </a:r>
            <a:endParaRPr lang="es-ES" sz="2400" dirty="0"/>
          </a:p>
          <a:p>
            <a:r>
              <a:rPr lang="es-ES" sz="2400" dirty="0" err="1"/>
              <a:t>Seasonal</a:t>
            </a:r>
            <a:r>
              <a:rPr lang="es-ES" sz="2400" dirty="0"/>
              <a:t> </a:t>
            </a:r>
            <a:r>
              <a:rPr lang="es-ES" sz="2400" dirty="0" err="1"/>
              <a:t>changes</a:t>
            </a:r>
            <a:r>
              <a:rPr lang="es-ES" sz="2400" dirty="0"/>
              <a:t> </a:t>
            </a:r>
            <a:r>
              <a:rPr lang="es-ES" sz="2400" dirty="0" err="1"/>
              <a:t>across</a:t>
            </a:r>
            <a:r>
              <a:rPr lang="es-ES" sz="2400" dirty="0"/>
              <a:t> </a:t>
            </a:r>
            <a:r>
              <a:rPr lang="es-ES" sz="2400" dirty="0" err="1"/>
              <a:t>years</a:t>
            </a:r>
            <a:r>
              <a:rPr lang="es-ES" sz="2400" dirty="0"/>
              <a:t>: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level</a:t>
            </a:r>
            <a:r>
              <a:rPr lang="es-ES" sz="2400" dirty="0"/>
              <a:t> and </a:t>
            </a:r>
            <a:r>
              <a:rPr lang="es-ES" sz="2400" dirty="0" err="1"/>
              <a:t>volatility</a:t>
            </a:r>
            <a:r>
              <a:rPr lang="es-ES" sz="2400" dirty="0"/>
              <a:t> are </a:t>
            </a:r>
            <a:r>
              <a:rPr lang="es-ES" sz="2400" dirty="0" err="1"/>
              <a:t>different</a:t>
            </a:r>
            <a:r>
              <a:rPr lang="es-ES" sz="2400" dirty="0"/>
              <a:t> </a:t>
            </a:r>
            <a:r>
              <a:rPr lang="es-ES" sz="2400" dirty="0" err="1"/>
              <a:t>depending</a:t>
            </a:r>
            <a:r>
              <a:rPr lang="es-ES" sz="2400" dirty="0"/>
              <a:t> </a:t>
            </a:r>
            <a:r>
              <a:rPr lang="es-ES" sz="2400" dirty="0" err="1"/>
              <a:t>on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time </a:t>
            </a:r>
            <a:r>
              <a:rPr lang="es-ES" sz="2400" dirty="0" err="1"/>
              <a:t>of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year</a:t>
            </a:r>
            <a:endParaRPr lang="es-ES" sz="2400" dirty="0"/>
          </a:p>
          <a:p>
            <a:r>
              <a:rPr lang="es-ES" sz="2400" dirty="0"/>
              <a:t>Extreme evento in 2025: a </a:t>
            </a:r>
            <a:r>
              <a:rPr lang="es-ES" sz="2400" dirty="0" err="1"/>
              <a:t>sudden</a:t>
            </a:r>
            <a:r>
              <a:rPr lang="es-ES" sz="2400" dirty="0"/>
              <a:t> </a:t>
            </a:r>
            <a:r>
              <a:rPr lang="es-ES" sz="2400" dirty="0" err="1"/>
              <a:t>drop</a:t>
            </a:r>
            <a:r>
              <a:rPr lang="es-ES" sz="2400" dirty="0"/>
              <a:t> </a:t>
            </a:r>
            <a:r>
              <a:rPr lang="es-ES" sz="2400" dirty="0" err="1"/>
              <a:t>appears</a:t>
            </a:r>
            <a:r>
              <a:rPr lang="es-ES" sz="2400" dirty="0"/>
              <a:t> as a </a:t>
            </a:r>
            <a:r>
              <a:rPr lang="es-ES" sz="2400" dirty="0" err="1"/>
              <a:t>clear</a:t>
            </a:r>
            <a:r>
              <a:rPr lang="es-ES" sz="2400" dirty="0"/>
              <a:t> </a:t>
            </a:r>
            <a:r>
              <a:rPr lang="es-ES" sz="2400" dirty="0" err="1"/>
              <a:t>outlier</a:t>
            </a:r>
            <a:endParaRPr lang="es-ES" sz="2400" dirty="0"/>
          </a:p>
          <a:p>
            <a:r>
              <a:rPr lang="es-ES" sz="2400" dirty="0" err="1"/>
              <a:t>Why</a:t>
            </a:r>
            <a:r>
              <a:rPr lang="es-ES" sz="2400" dirty="0"/>
              <a:t> </a:t>
            </a:r>
            <a:r>
              <a:rPr lang="es-ES" sz="2400" dirty="0" err="1"/>
              <a:t>it</a:t>
            </a:r>
            <a:r>
              <a:rPr lang="es-ES" sz="2400" dirty="0"/>
              <a:t> </a:t>
            </a:r>
            <a:r>
              <a:rPr lang="es-ES" sz="2400" dirty="0" err="1"/>
              <a:t>matters</a:t>
            </a:r>
            <a:r>
              <a:rPr lang="es-ES" sz="2400" dirty="0"/>
              <a:t>: </a:t>
            </a:r>
            <a:r>
              <a:rPr lang="es-ES" sz="2400" dirty="0" err="1"/>
              <a:t>our</a:t>
            </a:r>
            <a:r>
              <a:rPr lang="es-ES" sz="2400" dirty="0"/>
              <a:t> </a:t>
            </a:r>
            <a:r>
              <a:rPr lang="es-ES" sz="2400" dirty="0" err="1"/>
              <a:t>models</a:t>
            </a:r>
            <a:r>
              <a:rPr lang="es-ES" sz="2400" dirty="0"/>
              <a:t> </a:t>
            </a:r>
            <a:r>
              <a:rPr lang="es-ES" sz="2400" dirty="0" err="1"/>
              <a:t>must</a:t>
            </a:r>
            <a:r>
              <a:rPr lang="es-ES" sz="2400" dirty="0"/>
              <a:t> </a:t>
            </a:r>
            <a:r>
              <a:rPr lang="es-ES" sz="2400" dirty="0" err="1"/>
              <a:t>handle</a:t>
            </a:r>
            <a:r>
              <a:rPr lang="es-ES" sz="2400" dirty="0"/>
              <a:t> </a:t>
            </a:r>
            <a:r>
              <a:rPr lang="es-ES" sz="2400" dirty="0" err="1"/>
              <a:t>volatility</a:t>
            </a:r>
            <a:r>
              <a:rPr lang="es-ES" sz="2400" dirty="0"/>
              <a:t> + rare shocks </a:t>
            </a:r>
            <a:r>
              <a:rPr lang="es-ES" sz="2400" dirty="0">
                <a:sym typeface="Wingdings" panose="05000000000000000000" pitchFamily="2" charset="2"/>
              </a:rPr>
              <a:t> </a:t>
            </a:r>
            <a:r>
              <a:rPr lang="es-ES" sz="2400" dirty="0" err="1">
                <a:sym typeface="Wingdings" panose="05000000000000000000" pitchFamily="2" charset="2"/>
              </a:rPr>
              <a:t>we</a:t>
            </a:r>
            <a:r>
              <a:rPr lang="es-ES" sz="2400" dirty="0">
                <a:sym typeface="Wingdings" panose="05000000000000000000" pitchFamily="2" charset="2"/>
              </a:rPr>
              <a:t> </a:t>
            </a:r>
            <a:r>
              <a:rPr lang="es-ES" sz="2400" dirty="0" err="1">
                <a:sym typeface="Wingdings" panose="05000000000000000000" pitchFamily="2" charset="2"/>
              </a:rPr>
              <a:t>report</a:t>
            </a:r>
            <a:r>
              <a:rPr lang="es-ES" sz="2400" dirty="0">
                <a:sym typeface="Wingdings" panose="05000000000000000000" pitchFamily="2" charset="2"/>
              </a:rPr>
              <a:t> </a:t>
            </a:r>
            <a:r>
              <a:rPr lang="es-ES" sz="2400" dirty="0" err="1">
                <a:sym typeface="Wingdings" panose="05000000000000000000" pitchFamily="2" charset="2"/>
              </a:rPr>
              <a:t>prediction</a:t>
            </a:r>
            <a:r>
              <a:rPr lang="es-ES" sz="2400" dirty="0">
                <a:sym typeface="Wingdings" panose="05000000000000000000" pitchFamily="2" charset="2"/>
              </a:rPr>
              <a:t> </a:t>
            </a:r>
            <a:r>
              <a:rPr lang="es-ES" sz="2400" dirty="0" err="1">
                <a:sym typeface="Wingdings" panose="05000000000000000000" pitchFamily="2" charset="2"/>
              </a:rPr>
              <a:t>intervals</a:t>
            </a:r>
            <a:endParaRPr lang="es-ES" sz="24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BE5BC8D-82AE-56BD-D011-87A1FBF9E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183" y="1969774"/>
            <a:ext cx="7081713" cy="291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20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 Engineering.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/>
              <a:t>From raw REE files to a clean daily panel dataset</a:t>
            </a:r>
          </a:p>
          <a:p>
            <a:pPr marL="514350" indent="-514350">
              <a:buAutoNum type="arabicPeriod"/>
            </a:pPr>
            <a:r>
              <a:rPr lang="en-GB" dirty="0"/>
              <a:t>Input: multiple yearly CSV exports (wide format)</a:t>
            </a:r>
          </a:p>
          <a:p>
            <a:pPr marL="514350" indent="-514350">
              <a:buAutoNum type="arabicPeriod"/>
            </a:pPr>
            <a:r>
              <a:rPr lang="en-GB" dirty="0"/>
              <a:t>We convert to long format: (</a:t>
            </a:r>
            <a:r>
              <a:rPr lang="en-GB" dirty="0" err="1"/>
              <a:t>unique_id</a:t>
            </a:r>
            <a:r>
              <a:rPr lang="en-GB" dirty="0"/>
              <a:t>, ds, y)</a:t>
            </a:r>
          </a:p>
          <a:p>
            <a:pPr marL="514350" indent="-514350">
              <a:buAutoNum type="arabicPeriod"/>
            </a:pPr>
            <a:r>
              <a:rPr lang="en-GB" dirty="0"/>
              <a:t>We clean dates and numeric values (comma decimals, missing values)</a:t>
            </a:r>
          </a:p>
          <a:p>
            <a:pPr marL="514350" indent="-514350">
              <a:buAutoNum type="arabicPeriod"/>
            </a:pPr>
            <a:r>
              <a:rPr lang="en-GB" dirty="0"/>
              <a:t>We remove “Generación total” and keep Top-7 technologies (by mean generation)</a:t>
            </a:r>
          </a:p>
          <a:p>
            <a:pPr marL="514350" indent="-514350">
              <a:buAutoNum type="arabicPeriod"/>
            </a:pPr>
            <a:r>
              <a:rPr lang="en-GB" dirty="0"/>
              <a:t>We build a complete daily calendar for each technology</a:t>
            </a:r>
          </a:p>
          <a:p>
            <a:pPr marL="514350" indent="-514350">
              <a:buAutoNum type="arabicPeriod"/>
            </a:pPr>
            <a:r>
              <a:rPr lang="en-GB" dirty="0"/>
              <a:t>We fill missing days (forward/backward fill) and the negatives values to 0</a:t>
            </a:r>
          </a:p>
          <a:p>
            <a:pPr marL="514350" indent="-514350">
              <a:buAutoNum type="arabicPeriod"/>
            </a:pPr>
            <a:r>
              <a:rPr lang="en-GB" dirty="0"/>
              <a:t>Output: one clean panel file (parquet) for fast and reproducible runs</a:t>
            </a:r>
          </a:p>
          <a:p>
            <a:pPr marL="914400" lvl="2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B8F3-0CD4-9CA2-2B32-6AD32D1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Model Families Tested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58AE76-16F3-9322-3513-6AC62BEFC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Baselines:</a:t>
            </a:r>
          </a:p>
          <a:p>
            <a:pPr lvl="1"/>
            <a:r>
              <a:rPr lang="en-GB" dirty="0"/>
              <a:t>Naive (last value)</a:t>
            </a:r>
          </a:p>
          <a:p>
            <a:pPr lvl="1"/>
            <a:r>
              <a:rPr lang="en-GB" dirty="0"/>
              <a:t>Moving average (7-days window)</a:t>
            </a:r>
          </a:p>
          <a:p>
            <a:pPr lvl="1"/>
            <a:r>
              <a:rPr lang="en-GB" dirty="0"/>
              <a:t>Seasonal Naive (weekly)</a:t>
            </a:r>
          </a:p>
          <a:p>
            <a:r>
              <a:rPr lang="en-GB" b="1" dirty="0"/>
              <a:t>Statistical:</a:t>
            </a:r>
          </a:p>
          <a:p>
            <a:pPr lvl="1"/>
            <a:r>
              <a:rPr lang="en-GB" dirty="0" err="1"/>
              <a:t>AutoARIMA</a:t>
            </a:r>
            <a:r>
              <a:rPr lang="en-GB" dirty="0"/>
              <a:t> (weekly seasonality)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BE12D95-E880-5C96-778D-FF051D5DB3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Machine Learning:</a:t>
            </a:r>
          </a:p>
          <a:p>
            <a:pPr lvl="1"/>
            <a:r>
              <a:rPr lang="en-GB" dirty="0"/>
              <a:t>Random Forest</a:t>
            </a:r>
          </a:p>
          <a:p>
            <a:pPr lvl="1"/>
            <a:r>
              <a:rPr lang="en-GB" dirty="0"/>
              <a:t>Gradient Boosting</a:t>
            </a:r>
          </a:p>
          <a:p>
            <a:pPr lvl="1"/>
            <a:r>
              <a:rPr lang="en-GB" b="1" dirty="0"/>
              <a:t>Features: </a:t>
            </a:r>
            <a:r>
              <a:rPr lang="en-GB" dirty="0"/>
              <a:t>Lag features, calendar (day, month, weekday), and rolling &amp; expanding statistics.</a:t>
            </a:r>
          </a:p>
          <a:p>
            <a:r>
              <a:rPr lang="en-GB" b="1" dirty="0"/>
              <a:t>Neural Forecast:</a:t>
            </a:r>
          </a:p>
          <a:p>
            <a:pPr lvl="1"/>
            <a:r>
              <a:rPr lang="en-GB" dirty="0"/>
              <a:t>NBEATS</a:t>
            </a:r>
          </a:p>
          <a:p>
            <a:pPr lvl="1"/>
            <a:r>
              <a:rPr lang="en-GB" dirty="0" err="1"/>
              <a:t>NLinear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62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5E0AB-5DE7-D68A-E0B6-C1D13C47D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Evaluation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73D5A5-C543-94FA-5219-1A911BD85B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Time-Based Evaluation</a:t>
            </a:r>
          </a:p>
          <a:p>
            <a:r>
              <a:rPr lang="en-GB" dirty="0"/>
              <a:t>Chronological split (no shuffling)</a:t>
            </a:r>
          </a:p>
          <a:p>
            <a:r>
              <a:rPr lang="en-GB" dirty="0"/>
              <a:t>Time series-aware validation</a:t>
            </a:r>
          </a:p>
          <a:p>
            <a:pPr marL="0" indent="0">
              <a:buNone/>
            </a:pPr>
            <a:r>
              <a:rPr lang="en-GB" b="1" dirty="0"/>
              <a:t>Data Split</a:t>
            </a:r>
          </a:p>
          <a:p>
            <a:r>
              <a:rPr lang="en-GB" dirty="0"/>
              <a:t>Train</a:t>
            </a:r>
          </a:p>
          <a:p>
            <a:r>
              <a:rPr lang="en-GB" dirty="0"/>
              <a:t>Validation: 31 days</a:t>
            </a:r>
          </a:p>
          <a:p>
            <a:r>
              <a:rPr lang="en-GB" dirty="0"/>
              <a:t>Test: 31 days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B0D8E2-1D8E-E053-E756-9C407D5847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Evaluation Metrics: </a:t>
            </a:r>
            <a:r>
              <a:rPr lang="en-GB" dirty="0"/>
              <a:t>MAE (primary metric), RMSE, MAPE, OPE, R2</a:t>
            </a:r>
          </a:p>
          <a:p>
            <a:pPr marL="0" indent="0">
              <a:buNone/>
            </a:pPr>
            <a:r>
              <a:rPr lang="en-GB" b="1" dirty="0"/>
              <a:t>Model Selection</a:t>
            </a:r>
          </a:p>
          <a:p>
            <a:r>
              <a:rPr lang="en-GB" dirty="0"/>
              <a:t>Best model per family: lowest MAE on validation.</a:t>
            </a:r>
          </a:p>
        </p:txBody>
      </p:sp>
    </p:spTree>
    <p:extLst>
      <p:ext uri="{BB962C8B-B14F-4D97-AF65-F5344CB8AC3E}">
        <p14:creationId xmlns:p14="http://schemas.microsoft.com/office/powerpoint/2010/main" val="1819667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0D1662E-C66A-D65B-7830-080DDCA4AC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7191" y="1533703"/>
            <a:ext cx="10897617" cy="4509993"/>
          </a:xfr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9D9CDDCB-0584-6432-53F5-47AB4C556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/>
              <a:t>Evaluation </a:t>
            </a:r>
          </a:p>
        </p:txBody>
      </p:sp>
    </p:spTree>
    <p:extLst>
      <p:ext uri="{BB962C8B-B14F-4D97-AF65-F5344CB8AC3E}">
        <p14:creationId xmlns:p14="http://schemas.microsoft.com/office/powerpoint/2010/main" val="2791132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A39E2-F78C-1BA0-D34B-1BFB19A4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January 2026 </a:t>
            </a:r>
            <a:r>
              <a:rPr lang="en-GB" b="1" dirty="0" err="1"/>
              <a:t>Forecst</a:t>
            </a:r>
            <a:r>
              <a:rPr lang="en-GB" b="1" dirty="0"/>
              <a:t> (Top-7 total)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19FE7-2CE5-BA08-BB82-E17584F8FB3D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69231" y="1474921"/>
            <a:ext cx="965333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daily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generation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January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2026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Orange line =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yhat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Shaded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area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95%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prediction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interval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interval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validation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residuals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(simple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uncertainty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FE6BAF-BCCB-416D-9370-D00861747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863" y="2946719"/>
            <a:ext cx="7534274" cy="312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835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D2313-E4F2-A92B-B35C-585571590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Value and Decisions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2105F7-D478-7E13-EDE7-CCB821749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Plan reserves and backup generation (gas/coal) for low renewable days</a:t>
            </a:r>
          </a:p>
          <a:p>
            <a:r>
              <a:rPr lang="en-GB" dirty="0"/>
              <a:t>Schedule maintenance on safer days (lower risk of shortage)</a:t>
            </a:r>
          </a:p>
          <a:p>
            <a:r>
              <a:rPr lang="en-GB" dirty="0"/>
              <a:t>Reduce balancing costs: avoid over/under planning</a:t>
            </a:r>
          </a:p>
          <a:p>
            <a:r>
              <a:rPr lang="en-GB" dirty="0"/>
              <a:t>Intervals help decisions: plan for worst-case and best-case scenarios</a:t>
            </a:r>
          </a:p>
          <a:p>
            <a:pPr marL="0" indent="0">
              <a:buNone/>
            </a:pPr>
            <a:r>
              <a:rPr lang="en-GB" b="1" dirty="0"/>
              <a:t>Impact if no forecast /bad forecast:</a:t>
            </a:r>
          </a:p>
          <a:p>
            <a:pPr marL="0" indent="0">
              <a:buNone/>
            </a:pPr>
            <a:r>
              <a:rPr lang="en-GB" b="1" dirty="0"/>
              <a:t>No forecast </a:t>
            </a:r>
            <a:r>
              <a:rPr lang="en-GB" dirty="0">
                <a:sym typeface="Wingdings" panose="05000000000000000000" pitchFamily="2" charset="2"/>
              </a:rPr>
              <a:t> more last-minute actions, higher balancing cost and risk</a:t>
            </a:r>
          </a:p>
          <a:p>
            <a:pPr marL="0" indent="0">
              <a:buNone/>
            </a:pPr>
            <a:r>
              <a:rPr lang="en-GB" b="1" dirty="0">
                <a:sym typeface="Wingdings" panose="05000000000000000000" pitchFamily="2" charset="2"/>
              </a:rPr>
              <a:t>Bad forecast </a:t>
            </a:r>
            <a:r>
              <a:rPr lang="en-GB" dirty="0">
                <a:sym typeface="Wingdings" panose="05000000000000000000" pitchFamily="2" charset="2"/>
              </a:rPr>
              <a:t> wrong reserve planning (shortage risk or wasted capacity)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16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A85F5B-95B2-4549-2875-5058D861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1-8, 2026) Real vs </a:t>
            </a:r>
            <a:r>
              <a:rPr lang="es-ES" dirty="0" err="1"/>
              <a:t>Forecast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4F01CD-840B-E8D7-4674-0B5476C47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Final </a:t>
            </a:r>
            <a:r>
              <a:rPr lang="es-ES" dirty="0" err="1"/>
              <a:t>model</a:t>
            </a:r>
            <a:r>
              <a:rPr lang="es-ES" dirty="0"/>
              <a:t>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forecast</a:t>
            </a:r>
            <a:r>
              <a:rPr lang="es-ES" dirty="0"/>
              <a:t>: </a:t>
            </a:r>
            <a:r>
              <a:rPr lang="es-ES" dirty="0" err="1"/>
              <a:t>MLForecast</a:t>
            </a:r>
            <a:r>
              <a:rPr lang="es-ES" dirty="0"/>
              <a:t> + </a:t>
            </a:r>
            <a:r>
              <a:rPr lang="es-ES" dirty="0" err="1"/>
              <a:t>RAndomForestRegressor</a:t>
            </a:r>
            <a:r>
              <a:rPr lang="es-ES" dirty="0"/>
              <a:t>(</a:t>
            </a:r>
            <a:r>
              <a:rPr lang="es-ES" dirty="0" err="1"/>
              <a:t>lags</a:t>
            </a:r>
            <a:r>
              <a:rPr lang="es-ES" dirty="0"/>
              <a:t>) </a:t>
            </a:r>
            <a:r>
              <a:rPr lang="es-ES" dirty="0" err="1"/>
              <a:t>selected</a:t>
            </a:r>
            <a:r>
              <a:rPr lang="es-ES" dirty="0"/>
              <a:t> as </a:t>
            </a:r>
            <a:r>
              <a:rPr lang="es-ES" dirty="0" err="1"/>
              <a:t>best</a:t>
            </a:r>
            <a:r>
              <a:rPr lang="es-ES" dirty="0"/>
              <a:t> </a:t>
            </a:r>
            <a:r>
              <a:rPr lang="es-ES" dirty="0" err="1"/>
              <a:t>overall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Validation</a:t>
            </a:r>
            <a:r>
              <a:rPr lang="es-ES" dirty="0"/>
              <a:t> MAE </a:t>
            </a:r>
            <a:r>
              <a:rPr lang="es-ES" dirty="0" err="1"/>
              <a:t>across</a:t>
            </a:r>
            <a:r>
              <a:rPr lang="es-ES" dirty="0"/>
              <a:t> 7 </a:t>
            </a:r>
            <a:r>
              <a:rPr lang="es-ES" dirty="0" err="1"/>
              <a:t>technologies</a:t>
            </a:r>
            <a:r>
              <a:rPr lang="es-ES" dirty="0"/>
              <a:t>)</a:t>
            </a:r>
          </a:p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accuracy</a:t>
            </a:r>
            <a:r>
              <a:rPr lang="es-ES" dirty="0"/>
              <a:t>: MAE = 89 GWh, MAPE = 11,8%</a:t>
            </a:r>
          </a:p>
          <a:p>
            <a:r>
              <a:rPr lang="es-ES" dirty="0" err="1"/>
              <a:t>Interpretation</a:t>
            </a:r>
            <a:r>
              <a:rPr lang="es-ES" dirty="0"/>
              <a:t>: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 captures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level</a:t>
            </a:r>
            <a:r>
              <a:rPr lang="es-ES" dirty="0"/>
              <a:t>, </a:t>
            </a:r>
            <a:r>
              <a:rPr lang="es-ES" dirty="0" err="1"/>
              <a:t>but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misses</a:t>
            </a:r>
            <a:r>
              <a:rPr lang="es-ES" dirty="0"/>
              <a:t> short-</a:t>
            </a:r>
            <a:r>
              <a:rPr lang="es-ES" dirty="0" err="1"/>
              <a:t>term</a:t>
            </a:r>
            <a:r>
              <a:rPr lang="es-ES" dirty="0"/>
              <a:t> </a:t>
            </a:r>
            <a:r>
              <a:rPr lang="es-ES" dirty="0" err="1"/>
              <a:t>spikes</a:t>
            </a:r>
            <a:r>
              <a:rPr lang="es-ES" dirty="0"/>
              <a:t> in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first</a:t>
            </a:r>
            <a:r>
              <a:rPr lang="es-ES" dirty="0"/>
              <a:t> </a:t>
            </a:r>
            <a:r>
              <a:rPr lang="es-ES" dirty="0" err="1"/>
              <a:t>week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January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894086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F7BECF9-311E-3600-9AC9-EE14544E3A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0479" y="1477085"/>
            <a:ext cx="11311042" cy="4685047"/>
          </a:xfr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A7884B28-AA32-0A27-CA9B-EA002C86D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1-8, 2026) Real vs </a:t>
            </a:r>
            <a:r>
              <a:rPr lang="es-ES" dirty="0" err="1"/>
              <a:t>Forecast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11904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93B406-8579-B9E2-E3EB-9C50A7EA7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Why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expected</a:t>
            </a:r>
            <a:r>
              <a:rPr lang="es-ES" dirty="0"/>
              <a:t>: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only</a:t>
            </a:r>
            <a:r>
              <a:rPr lang="es-ES" dirty="0"/>
              <a:t>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historical</a:t>
            </a:r>
            <a:r>
              <a:rPr lang="es-ES" dirty="0"/>
              <a:t> </a:t>
            </a:r>
            <a:r>
              <a:rPr lang="es-ES" dirty="0" err="1"/>
              <a:t>generation</a:t>
            </a:r>
            <a:r>
              <a:rPr lang="es-ES" dirty="0"/>
              <a:t> (</a:t>
            </a:r>
            <a:r>
              <a:rPr lang="es-ES" dirty="0" err="1"/>
              <a:t>lags+calendar</a:t>
            </a:r>
            <a:r>
              <a:rPr lang="es-ES" dirty="0"/>
              <a:t>) and </a:t>
            </a:r>
            <a:r>
              <a:rPr lang="es-ES" dirty="0" err="1"/>
              <a:t>did</a:t>
            </a:r>
            <a:r>
              <a:rPr lang="es-ES" dirty="0"/>
              <a:t> </a:t>
            </a:r>
            <a:r>
              <a:rPr lang="es-ES" dirty="0" err="1"/>
              <a:t>not</a:t>
            </a:r>
            <a:r>
              <a:rPr lang="es-ES" dirty="0"/>
              <a:t> </a:t>
            </a:r>
            <a:r>
              <a:rPr lang="es-ES" dirty="0" err="1"/>
              <a:t>include</a:t>
            </a:r>
            <a:r>
              <a:rPr lang="es-ES" dirty="0"/>
              <a:t> </a:t>
            </a:r>
            <a:r>
              <a:rPr lang="es-ES" dirty="0" err="1"/>
              <a:t>external</a:t>
            </a:r>
            <a:r>
              <a:rPr lang="es-ES" dirty="0"/>
              <a:t> drivers (</a:t>
            </a:r>
            <a:r>
              <a:rPr lang="es-ES" dirty="0" err="1"/>
              <a:t>weather</a:t>
            </a:r>
            <a:r>
              <a:rPr lang="es-ES" dirty="0"/>
              <a:t>, </a:t>
            </a:r>
            <a:r>
              <a:rPr lang="es-ES" dirty="0" err="1"/>
              <a:t>demand</a:t>
            </a:r>
            <a:r>
              <a:rPr lang="es-ES" dirty="0"/>
              <a:t>..)</a:t>
            </a:r>
          </a:p>
          <a:p>
            <a:r>
              <a:rPr lang="es-ES" dirty="0"/>
              <a:t>Next </a:t>
            </a:r>
            <a:r>
              <a:rPr lang="es-ES" dirty="0" err="1"/>
              <a:t>improvements</a:t>
            </a:r>
            <a:r>
              <a:rPr lang="es-ES" dirty="0"/>
              <a:t> (</a:t>
            </a:r>
            <a:r>
              <a:rPr lang="es-ES" dirty="0" err="1"/>
              <a:t>if</a:t>
            </a:r>
            <a:r>
              <a:rPr lang="es-ES" dirty="0"/>
              <a:t>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had</a:t>
            </a:r>
            <a:r>
              <a:rPr lang="es-ES" dirty="0"/>
              <a:t> more time)</a:t>
            </a:r>
          </a:p>
          <a:p>
            <a:pPr lvl="1"/>
            <a:r>
              <a:rPr lang="es-ES" dirty="0" err="1"/>
              <a:t>Add</a:t>
            </a:r>
            <a:r>
              <a:rPr lang="es-ES" dirty="0"/>
              <a:t> </a:t>
            </a:r>
            <a:r>
              <a:rPr lang="es-ES" dirty="0" err="1"/>
              <a:t>esxogenous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like</a:t>
            </a:r>
            <a:r>
              <a:rPr lang="es-ES" dirty="0"/>
              <a:t> temperatura, </a:t>
            </a:r>
            <a:r>
              <a:rPr lang="es-ES" dirty="0" err="1"/>
              <a:t>wind</a:t>
            </a:r>
            <a:r>
              <a:rPr lang="es-ES" dirty="0"/>
              <a:t> </a:t>
            </a:r>
            <a:r>
              <a:rPr lang="es-ES" dirty="0" err="1"/>
              <a:t>speed</a:t>
            </a:r>
            <a:r>
              <a:rPr lang="es-ES" dirty="0"/>
              <a:t>, </a:t>
            </a:r>
            <a:r>
              <a:rPr lang="es-ES" dirty="0" err="1"/>
              <a:t>holidays</a:t>
            </a:r>
            <a:r>
              <a:rPr lang="es-ES" dirty="0"/>
              <a:t>, </a:t>
            </a:r>
            <a:r>
              <a:rPr lang="es-ES" dirty="0" err="1"/>
              <a:t>demand</a:t>
            </a:r>
            <a:r>
              <a:rPr lang="es-ES" dirty="0"/>
              <a:t>)</a:t>
            </a:r>
          </a:p>
          <a:p>
            <a:pPr lvl="1"/>
            <a:endParaRPr lang="es-ES" dirty="0"/>
          </a:p>
          <a:p>
            <a:r>
              <a:rPr lang="es-ES" dirty="0" err="1"/>
              <a:t>Even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imperfect</a:t>
            </a:r>
            <a:r>
              <a:rPr lang="es-ES" dirty="0"/>
              <a:t> </a:t>
            </a:r>
            <a:r>
              <a:rPr lang="es-ES" dirty="0" err="1"/>
              <a:t>accuracy</a:t>
            </a:r>
            <a:r>
              <a:rPr lang="es-ES" dirty="0"/>
              <a:t>, a </a:t>
            </a:r>
            <a:r>
              <a:rPr lang="es-ES" dirty="0" err="1"/>
              <a:t>forecast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useful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planning</a:t>
            </a:r>
            <a:r>
              <a:rPr lang="es-ES" dirty="0"/>
              <a:t> and </a:t>
            </a:r>
            <a:r>
              <a:rPr lang="es-ES" dirty="0" err="1"/>
              <a:t>risk</a:t>
            </a:r>
            <a:r>
              <a:rPr lang="es-ES" dirty="0"/>
              <a:t> </a:t>
            </a:r>
            <a:r>
              <a:rPr lang="es-ES" dirty="0" err="1"/>
              <a:t>management</a:t>
            </a:r>
            <a:r>
              <a:rPr lang="es-ES" dirty="0"/>
              <a:t> (</a:t>
            </a:r>
            <a:r>
              <a:rPr lang="es-ES" dirty="0" err="1"/>
              <a:t>better</a:t>
            </a:r>
            <a:r>
              <a:rPr lang="es-ES" dirty="0"/>
              <a:t> tan “no </a:t>
            </a:r>
            <a:r>
              <a:rPr lang="es-ES" dirty="0" err="1"/>
              <a:t>forecast</a:t>
            </a:r>
            <a:r>
              <a:rPr lang="es-ES" dirty="0"/>
              <a:t>”)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76C6B0E-224A-8349-E519-3D490B61E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1-8, 2026) Real vs </a:t>
            </a:r>
            <a:r>
              <a:rPr lang="es-ES" dirty="0" err="1"/>
              <a:t>Forecast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41203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1074</Words>
  <Application>Microsoft Office PowerPoint</Application>
  <PresentationFormat>Panorámica</PresentationFormat>
  <Paragraphs>137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Wingdings</vt:lpstr>
      <vt:lpstr>Tema de Office</vt:lpstr>
      <vt:lpstr>Forecasting Spain Daily Electricity Generation (REE) January 2026</vt:lpstr>
      <vt:lpstr>Team &amp; Contributions. </vt:lpstr>
      <vt:lpstr>Business Problem</vt:lpstr>
      <vt:lpstr>Business Problem</vt:lpstr>
      <vt:lpstr>Value (Impact)</vt:lpstr>
      <vt:lpstr>DATASET INFO</vt:lpstr>
      <vt:lpstr>Presentación de PowerPoint</vt:lpstr>
      <vt:lpstr>Solution Overview (General)</vt:lpstr>
      <vt:lpstr>Solution Overview. (Code Workflow)</vt:lpstr>
      <vt:lpstr>Insights from the data</vt:lpstr>
      <vt:lpstr>Data Engineering. </vt:lpstr>
      <vt:lpstr>Model Families Tested</vt:lpstr>
      <vt:lpstr>Evaluation </vt:lpstr>
      <vt:lpstr>Evaluation </vt:lpstr>
      <vt:lpstr>January 2026 Forecst (Top-7 total)</vt:lpstr>
      <vt:lpstr>Value and Decisions</vt:lpstr>
      <vt:lpstr>Early check (Jan 1-8, 2026) Real vs Forecast</vt:lpstr>
      <vt:lpstr>Early check (Jan 1-8, 2026) Real vs Forecast</vt:lpstr>
      <vt:lpstr>Early check (Jan 1-8, 2026) Real vs Forecast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Enrique Ruiz Gallego</cp:lastModifiedBy>
  <cp:revision>8</cp:revision>
  <dcterms:created xsi:type="dcterms:W3CDTF">2025-12-29T20:01:16Z</dcterms:created>
  <dcterms:modified xsi:type="dcterms:W3CDTF">2026-01-08T19:36:56Z</dcterms:modified>
</cp:coreProperties>
</file>