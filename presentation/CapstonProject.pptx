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8" r:id="rId4"/>
    <p:sldId id="267" r:id="rId5"/>
    <p:sldId id="275" r:id="rId6"/>
    <p:sldId id="271" r:id="rId7"/>
    <p:sldId id="270" r:id="rId8"/>
    <p:sldId id="262" r:id="rId9"/>
    <p:sldId id="276" r:id="rId10"/>
    <p:sldId id="264" r:id="rId11"/>
    <p:sldId id="277" r:id="rId12"/>
    <p:sldId id="266" r:id="rId13"/>
    <p:sldId id="280" r:id="rId14"/>
    <p:sldId id="279" r:id="rId15"/>
    <p:sldId id="281" r:id="rId16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Estilo medio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Estilo medio 2 - Énfasis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svg"/><Relationship Id="rId1" Type="http://schemas.openxmlformats.org/officeDocument/2006/relationships/image" Target="../media/image3.png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885E5C5-6469-4D29-B8A5-0A3E3EDC72F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0AD769B2-05E4-40E4-9F69-FF44629DE889}">
      <dgm:prSet/>
      <dgm:spPr/>
      <dgm:t>
        <a:bodyPr/>
        <a:lstStyle/>
        <a:p>
          <a:r>
            <a:rPr lang="en-GB" dirty="0"/>
            <a:t>Plan reserves and backup generation</a:t>
          </a:r>
          <a:endParaRPr lang="en-US" dirty="0"/>
        </a:p>
      </dgm:t>
    </dgm:pt>
    <dgm:pt modelId="{7137689E-1D9A-4F83-96CF-F86C6E958C30}" type="parTrans" cxnId="{6CB90404-A6BA-4906-964D-33454B30C2FD}">
      <dgm:prSet/>
      <dgm:spPr/>
      <dgm:t>
        <a:bodyPr/>
        <a:lstStyle/>
        <a:p>
          <a:endParaRPr lang="en-US"/>
        </a:p>
      </dgm:t>
    </dgm:pt>
    <dgm:pt modelId="{E44BB364-35CB-4B18-905E-FFCACEFA5A89}" type="sibTrans" cxnId="{6CB90404-A6BA-4906-964D-33454B30C2FD}">
      <dgm:prSet/>
      <dgm:spPr/>
      <dgm:t>
        <a:bodyPr/>
        <a:lstStyle/>
        <a:p>
          <a:endParaRPr lang="en-US"/>
        </a:p>
      </dgm:t>
    </dgm:pt>
    <dgm:pt modelId="{88CB75D3-6A09-4892-AB10-E9B13B82EB52}">
      <dgm:prSet/>
      <dgm:spPr/>
      <dgm:t>
        <a:bodyPr/>
        <a:lstStyle/>
        <a:p>
          <a:r>
            <a:rPr lang="en-GB" dirty="0"/>
            <a:t>Schedule maintenance on safer days </a:t>
          </a:r>
          <a:endParaRPr lang="en-US" dirty="0"/>
        </a:p>
      </dgm:t>
    </dgm:pt>
    <dgm:pt modelId="{306F90BF-8564-4762-AAAE-0CB930690C2D}" type="parTrans" cxnId="{84769C4F-818F-4446-9E6A-DE39DB2B1C3D}">
      <dgm:prSet/>
      <dgm:spPr/>
      <dgm:t>
        <a:bodyPr/>
        <a:lstStyle/>
        <a:p>
          <a:endParaRPr lang="en-US"/>
        </a:p>
      </dgm:t>
    </dgm:pt>
    <dgm:pt modelId="{FCB884B5-14E4-4478-AEF4-9B72337D1175}" type="sibTrans" cxnId="{84769C4F-818F-4446-9E6A-DE39DB2B1C3D}">
      <dgm:prSet/>
      <dgm:spPr/>
      <dgm:t>
        <a:bodyPr/>
        <a:lstStyle/>
        <a:p>
          <a:endParaRPr lang="en-US"/>
        </a:p>
      </dgm:t>
    </dgm:pt>
    <dgm:pt modelId="{8A2A3C6B-87A7-41AC-ACEB-D0265340E3EE}">
      <dgm:prSet/>
      <dgm:spPr/>
      <dgm:t>
        <a:bodyPr/>
        <a:lstStyle/>
        <a:p>
          <a:r>
            <a:rPr lang="en-GB"/>
            <a:t>Reduce balancing costs: avoid over/under planning</a:t>
          </a:r>
          <a:endParaRPr lang="en-US"/>
        </a:p>
      </dgm:t>
    </dgm:pt>
    <dgm:pt modelId="{A8E79997-5420-4785-BDC9-37FC7CADF704}" type="parTrans" cxnId="{036F0210-9F7C-45F9-B08E-53EBDDF79D38}">
      <dgm:prSet/>
      <dgm:spPr/>
      <dgm:t>
        <a:bodyPr/>
        <a:lstStyle/>
        <a:p>
          <a:endParaRPr lang="en-US"/>
        </a:p>
      </dgm:t>
    </dgm:pt>
    <dgm:pt modelId="{60294667-E5F7-4005-8286-F5DD50E10E47}" type="sibTrans" cxnId="{036F0210-9F7C-45F9-B08E-53EBDDF79D38}">
      <dgm:prSet/>
      <dgm:spPr/>
      <dgm:t>
        <a:bodyPr/>
        <a:lstStyle/>
        <a:p>
          <a:endParaRPr lang="en-US"/>
        </a:p>
      </dgm:t>
    </dgm:pt>
    <dgm:pt modelId="{EB49E3BD-ABBB-4B2A-B7E8-E2A82293F609}">
      <dgm:prSet/>
      <dgm:spPr/>
      <dgm:t>
        <a:bodyPr/>
        <a:lstStyle/>
        <a:p>
          <a:r>
            <a:rPr lang="en-GB"/>
            <a:t>Intervals help decisions: plan for worst-case and best-case scenarios</a:t>
          </a:r>
          <a:endParaRPr lang="en-US"/>
        </a:p>
      </dgm:t>
    </dgm:pt>
    <dgm:pt modelId="{D391DDD2-9ADB-4639-A63D-864D012F5DFE}" type="parTrans" cxnId="{D59B44B8-B37A-48E6-B5BE-DE637B5AD310}">
      <dgm:prSet/>
      <dgm:spPr/>
      <dgm:t>
        <a:bodyPr/>
        <a:lstStyle/>
        <a:p>
          <a:endParaRPr lang="en-US"/>
        </a:p>
      </dgm:t>
    </dgm:pt>
    <dgm:pt modelId="{20B9DA6A-31A1-448A-B11C-66380BE83E90}" type="sibTrans" cxnId="{D59B44B8-B37A-48E6-B5BE-DE637B5AD310}">
      <dgm:prSet/>
      <dgm:spPr/>
      <dgm:t>
        <a:bodyPr/>
        <a:lstStyle/>
        <a:p>
          <a:endParaRPr lang="en-US"/>
        </a:p>
      </dgm:t>
    </dgm:pt>
    <dgm:pt modelId="{468B7A88-DBEA-4A8F-B227-872BBD878BB0}">
      <dgm:prSet/>
      <dgm:spPr/>
      <dgm:t>
        <a:bodyPr/>
        <a:lstStyle/>
        <a:p>
          <a:r>
            <a:rPr lang="en-GB" b="1"/>
            <a:t>Impact if no forecast /bad forecast:</a:t>
          </a:r>
          <a:endParaRPr lang="en-US"/>
        </a:p>
      </dgm:t>
    </dgm:pt>
    <dgm:pt modelId="{EF4AC9E0-CBF7-4E06-A9BC-E1485D199CAE}" type="parTrans" cxnId="{1CC03DB1-A2EC-4BCD-9438-466B24F1A3D4}">
      <dgm:prSet/>
      <dgm:spPr/>
      <dgm:t>
        <a:bodyPr/>
        <a:lstStyle/>
        <a:p>
          <a:endParaRPr lang="en-US"/>
        </a:p>
      </dgm:t>
    </dgm:pt>
    <dgm:pt modelId="{0BF5D2A2-B0F2-4EE2-9845-946984373610}" type="sibTrans" cxnId="{1CC03DB1-A2EC-4BCD-9438-466B24F1A3D4}">
      <dgm:prSet/>
      <dgm:spPr/>
      <dgm:t>
        <a:bodyPr/>
        <a:lstStyle/>
        <a:p>
          <a:endParaRPr lang="en-US"/>
        </a:p>
      </dgm:t>
    </dgm:pt>
    <dgm:pt modelId="{98581F28-5AF5-4BF0-9385-C2C98E558820}">
      <dgm:prSet/>
      <dgm:spPr/>
      <dgm:t>
        <a:bodyPr/>
        <a:lstStyle/>
        <a:p>
          <a:r>
            <a:rPr lang="en-GB" b="1"/>
            <a:t>No forecast </a:t>
          </a:r>
          <a:r>
            <a:rPr lang="en-GB">
              <a:sym typeface="Wingdings" panose="05000000000000000000" pitchFamily="2" charset="2"/>
            </a:rPr>
            <a:t></a:t>
          </a:r>
          <a:r>
            <a:rPr lang="en-GB"/>
            <a:t> more last-minute actions, higher balancing cost and risk</a:t>
          </a:r>
          <a:endParaRPr lang="en-US"/>
        </a:p>
      </dgm:t>
    </dgm:pt>
    <dgm:pt modelId="{B2D05AF2-0FF1-4E54-B255-B200EA63D81E}" type="parTrans" cxnId="{E4F69572-3F93-40CF-8FBC-98E1B3556AC0}">
      <dgm:prSet/>
      <dgm:spPr/>
      <dgm:t>
        <a:bodyPr/>
        <a:lstStyle/>
        <a:p>
          <a:endParaRPr lang="en-US"/>
        </a:p>
      </dgm:t>
    </dgm:pt>
    <dgm:pt modelId="{F8E9FCCF-835A-4411-87F7-12C06C9F455B}" type="sibTrans" cxnId="{E4F69572-3F93-40CF-8FBC-98E1B3556AC0}">
      <dgm:prSet/>
      <dgm:spPr/>
      <dgm:t>
        <a:bodyPr/>
        <a:lstStyle/>
        <a:p>
          <a:endParaRPr lang="en-US"/>
        </a:p>
      </dgm:t>
    </dgm:pt>
    <dgm:pt modelId="{28E43F24-D890-492E-912F-719BA8F0A3A1}">
      <dgm:prSet/>
      <dgm:spPr/>
      <dgm:t>
        <a:bodyPr/>
        <a:lstStyle/>
        <a:p>
          <a:r>
            <a:rPr lang="en-GB" b="1" dirty="0"/>
            <a:t>Bad forecast </a:t>
          </a:r>
          <a:r>
            <a:rPr lang="en-GB" dirty="0">
              <a:sym typeface="Wingdings" panose="05000000000000000000" pitchFamily="2" charset="2"/>
            </a:rPr>
            <a:t></a:t>
          </a:r>
          <a:r>
            <a:rPr lang="en-GB" dirty="0"/>
            <a:t> wrong reserve planning</a:t>
          </a:r>
          <a:endParaRPr lang="en-US" dirty="0"/>
        </a:p>
      </dgm:t>
    </dgm:pt>
    <dgm:pt modelId="{ECFEAA95-434D-4FF2-8990-26A7EC1573E3}" type="parTrans" cxnId="{CFCE2DCA-B639-451D-97D8-453C2D42030C}">
      <dgm:prSet/>
      <dgm:spPr/>
      <dgm:t>
        <a:bodyPr/>
        <a:lstStyle/>
        <a:p>
          <a:endParaRPr lang="en-US"/>
        </a:p>
      </dgm:t>
    </dgm:pt>
    <dgm:pt modelId="{0B866527-4318-41DA-8DBC-47EE2F8F448E}" type="sibTrans" cxnId="{CFCE2DCA-B639-451D-97D8-453C2D42030C}">
      <dgm:prSet/>
      <dgm:spPr/>
      <dgm:t>
        <a:bodyPr/>
        <a:lstStyle/>
        <a:p>
          <a:endParaRPr lang="en-US"/>
        </a:p>
      </dgm:t>
    </dgm:pt>
    <dgm:pt modelId="{244F6F07-95A0-4476-9563-E6572F589ABE}" type="pres">
      <dgm:prSet presAssocID="{2885E5C5-6469-4D29-B8A5-0A3E3EDC72FD}" presName="root" presStyleCnt="0">
        <dgm:presLayoutVars>
          <dgm:dir/>
          <dgm:resizeHandles val="exact"/>
        </dgm:presLayoutVars>
      </dgm:prSet>
      <dgm:spPr/>
    </dgm:pt>
    <dgm:pt modelId="{254CD023-78B4-4994-990A-0733D4147F0A}" type="pres">
      <dgm:prSet presAssocID="{0AD769B2-05E4-40E4-9F69-FF44629DE889}" presName="compNode" presStyleCnt="0"/>
      <dgm:spPr/>
    </dgm:pt>
    <dgm:pt modelId="{33BF7BAB-B78D-45DD-941A-EA1996748B74}" type="pres">
      <dgm:prSet presAssocID="{0AD769B2-05E4-40E4-9F69-FF44629DE889}" presName="bgRect" presStyleLbl="bgShp" presStyleIdx="0" presStyleCnt="7"/>
      <dgm:spPr/>
    </dgm:pt>
    <dgm:pt modelId="{B8B54B07-BA13-4679-AF30-F44B743F2806}" type="pres">
      <dgm:prSet presAssocID="{0AD769B2-05E4-40E4-9F69-FF44629DE889}" presName="iconRect" presStyleLbl="node1" presStyleIdx="0" presStyleCnt="7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"/>
        </a:ext>
      </dgm:extLst>
    </dgm:pt>
    <dgm:pt modelId="{318CA171-66CB-4251-B8F1-9926F638485A}" type="pres">
      <dgm:prSet presAssocID="{0AD769B2-05E4-40E4-9F69-FF44629DE889}" presName="spaceRect" presStyleCnt="0"/>
      <dgm:spPr/>
    </dgm:pt>
    <dgm:pt modelId="{DDB87883-AB45-425B-B239-AB486E195698}" type="pres">
      <dgm:prSet presAssocID="{0AD769B2-05E4-40E4-9F69-FF44629DE889}" presName="parTx" presStyleLbl="revTx" presStyleIdx="0" presStyleCnt="7">
        <dgm:presLayoutVars>
          <dgm:chMax val="0"/>
          <dgm:chPref val="0"/>
        </dgm:presLayoutVars>
      </dgm:prSet>
      <dgm:spPr/>
    </dgm:pt>
    <dgm:pt modelId="{F3F2C18E-5D2F-4894-8A3D-FEFEAC2FBD8E}" type="pres">
      <dgm:prSet presAssocID="{E44BB364-35CB-4B18-905E-FFCACEFA5A89}" presName="sibTrans" presStyleCnt="0"/>
      <dgm:spPr/>
    </dgm:pt>
    <dgm:pt modelId="{689A1E1C-4A5C-4F25-A28F-D5E085AB2B0B}" type="pres">
      <dgm:prSet presAssocID="{88CB75D3-6A09-4892-AB10-E9B13B82EB52}" presName="compNode" presStyleCnt="0"/>
      <dgm:spPr/>
    </dgm:pt>
    <dgm:pt modelId="{4F3DFCEE-E47E-4DFA-B3B5-568D512C7609}" type="pres">
      <dgm:prSet presAssocID="{88CB75D3-6A09-4892-AB10-E9B13B82EB52}" presName="bgRect" presStyleLbl="bgShp" presStyleIdx="1" presStyleCnt="7"/>
      <dgm:spPr/>
    </dgm:pt>
    <dgm:pt modelId="{88FE25FE-7BBC-4A71-9B88-5D01A471D47A}" type="pres">
      <dgm:prSet presAssocID="{88CB75D3-6A09-4892-AB10-E9B13B82EB52}" presName="iconRect" presStyleLbl="node1" presStyleIdx="1" presStyleCnt="7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rgando"/>
        </a:ext>
      </dgm:extLst>
    </dgm:pt>
    <dgm:pt modelId="{B08F4C4F-57EE-45CB-A566-6D121B23650A}" type="pres">
      <dgm:prSet presAssocID="{88CB75D3-6A09-4892-AB10-E9B13B82EB52}" presName="spaceRect" presStyleCnt="0"/>
      <dgm:spPr/>
    </dgm:pt>
    <dgm:pt modelId="{FA914BEA-20C4-4496-9755-5817D88B801B}" type="pres">
      <dgm:prSet presAssocID="{88CB75D3-6A09-4892-AB10-E9B13B82EB52}" presName="parTx" presStyleLbl="revTx" presStyleIdx="1" presStyleCnt="7">
        <dgm:presLayoutVars>
          <dgm:chMax val="0"/>
          <dgm:chPref val="0"/>
        </dgm:presLayoutVars>
      </dgm:prSet>
      <dgm:spPr/>
    </dgm:pt>
    <dgm:pt modelId="{B19DABE0-76AC-4FB6-863E-7FE4AB4E9C8B}" type="pres">
      <dgm:prSet presAssocID="{FCB884B5-14E4-4478-AEF4-9B72337D1175}" presName="sibTrans" presStyleCnt="0"/>
      <dgm:spPr/>
    </dgm:pt>
    <dgm:pt modelId="{9D292F71-157F-4615-B8C9-78DA20A068A1}" type="pres">
      <dgm:prSet presAssocID="{8A2A3C6B-87A7-41AC-ACEB-D0265340E3EE}" presName="compNode" presStyleCnt="0"/>
      <dgm:spPr/>
    </dgm:pt>
    <dgm:pt modelId="{307B26AD-1422-4F32-B73B-63F7E1E52CE9}" type="pres">
      <dgm:prSet presAssocID="{8A2A3C6B-87A7-41AC-ACEB-D0265340E3EE}" presName="bgRect" presStyleLbl="bgShp" presStyleIdx="2" presStyleCnt="7"/>
      <dgm:spPr/>
    </dgm:pt>
    <dgm:pt modelId="{862AEB24-FA40-4C4E-B107-5378D1AEC0B6}" type="pres">
      <dgm:prSet presAssocID="{8A2A3C6B-87A7-41AC-ACEB-D0265340E3EE}" presName="iconRect" presStyleLbl="node1" presStyleIdx="2" presStyleCnt="7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cision chart"/>
        </a:ext>
      </dgm:extLst>
    </dgm:pt>
    <dgm:pt modelId="{31E980EF-FBD3-4440-A347-3A299E13CD14}" type="pres">
      <dgm:prSet presAssocID="{8A2A3C6B-87A7-41AC-ACEB-D0265340E3EE}" presName="spaceRect" presStyleCnt="0"/>
      <dgm:spPr/>
    </dgm:pt>
    <dgm:pt modelId="{16E8A4D8-8F4D-4F2F-808A-3FA5CB3E4731}" type="pres">
      <dgm:prSet presAssocID="{8A2A3C6B-87A7-41AC-ACEB-D0265340E3EE}" presName="parTx" presStyleLbl="revTx" presStyleIdx="2" presStyleCnt="7">
        <dgm:presLayoutVars>
          <dgm:chMax val="0"/>
          <dgm:chPref val="0"/>
        </dgm:presLayoutVars>
      </dgm:prSet>
      <dgm:spPr/>
    </dgm:pt>
    <dgm:pt modelId="{4A3A6787-25C6-420B-99D2-12AEE2E3E250}" type="pres">
      <dgm:prSet presAssocID="{60294667-E5F7-4005-8286-F5DD50E10E47}" presName="sibTrans" presStyleCnt="0"/>
      <dgm:spPr/>
    </dgm:pt>
    <dgm:pt modelId="{905E5BC5-19C0-4CD3-AC89-9950B66BEB22}" type="pres">
      <dgm:prSet presAssocID="{EB49E3BD-ABBB-4B2A-B7E8-E2A82293F609}" presName="compNode" presStyleCnt="0"/>
      <dgm:spPr/>
    </dgm:pt>
    <dgm:pt modelId="{277E62DB-A665-45D3-B471-020AA3746DE9}" type="pres">
      <dgm:prSet presAssocID="{EB49E3BD-ABBB-4B2A-B7E8-E2A82293F609}" presName="bgRect" presStyleLbl="bgShp" presStyleIdx="3" presStyleCnt="7"/>
      <dgm:spPr/>
    </dgm:pt>
    <dgm:pt modelId="{A20A061B-BD00-492A-8DFD-C311E72CDC16}" type="pres">
      <dgm:prSet presAssocID="{EB49E3BD-ABBB-4B2A-B7E8-E2A82293F609}" presName="iconRect" presStyleLbl="node1" presStyleIdx="3" presStyleCnt="7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ocumento"/>
        </a:ext>
      </dgm:extLst>
    </dgm:pt>
    <dgm:pt modelId="{4F39A0D3-DCB7-4F49-AD31-3DC0FF3D2B47}" type="pres">
      <dgm:prSet presAssocID="{EB49E3BD-ABBB-4B2A-B7E8-E2A82293F609}" presName="spaceRect" presStyleCnt="0"/>
      <dgm:spPr/>
    </dgm:pt>
    <dgm:pt modelId="{F966EA11-EF9E-4ECD-A68C-8B2C15C02502}" type="pres">
      <dgm:prSet presAssocID="{EB49E3BD-ABBB-4B2A-B7E8-E2A82293F609}" presName="parTx" presStyleLbl="revTx" presStyleIdx="3" presStyleCnt="7">
        <dgm:presLayoutVars>
          <dgm:chMax val="0"/>
          <dgm:chPref val="0"/>
        </dgm:presLayoutVars>
      </dgm:prSet>
      <dgm:spPr/>
    </dgm:pt>
    <dgm:pt modelId="{46337DF5-12EC-4DC6-9A9D-8A1C606FC6F6}" type="pres">
      <dgm:prSet presAssocID="{20B9DA6A-31A1-448A-B11C-66380BE83E90}" presName="sibTrans" presStyleCnt="0"/>
      <dgm:spPr/>
    </dgm:pt>
    <dgm:pt modelId="{6E347CAD-D7AA-49D3-ABF8-130DEDF3EA14}" type="pres">
      <dgm:prSet presAssocID="{468B7A88-DBEA-4A8F-B227-872BBD878BB0}" presName="compNode" presStyleCnt="0"/>
      <dgm:spPr/>
    </dgm:pt>
    <dgm:pt modelId="{2A3F2B46-5D2E-49B9-B428-F5B66CD5C74E}" type="pres">
      <dgm:prSet presAssocID="{468B7A88-DBEA-4A8F-B227-872BBD878BB0}" presName="bgRect" presStyleLbl="bgShp" presStyleIdx="4" presStyleCnt="7"/>
      <dgm:spPr/>
    </dgm:pt>
    <dgm:pt modelId="{B58F5234-0FE4-470D-A48E-1E642369BD64}" type="pres">
      <dgm:prSet presAssocID="{468B7A88-DBEA-4A8F-B227-872BBD878BB0}" presName="iconRect" presStyleLbl="node1" presStyleIdx="4" presStyleCnt="7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Advertencia"/>
        </a:ext>
      </dgm:extLst>
    </dgm:pt>
    <dgm:pt modelId="{78B652D7-DA62-49E8-894B-5408E3B794C3}" type="pres">
      <dgm:prSet presAssocID="{468B7A88-DBEA-4A8F-B227-872BBD878BB0}" presName="spaceRect" presStyleCnt="0"/>
      <dgm:spPr/>
    </dgm:pt>
    <dgm:pt modelId="{6DEDBAE8-5A97-45F2-9B5D-C36B598E26B2}" type="pres">
      <dgm:prSet presAssocID="{468B7A88-DBEA-4A8F-B227-872BBD878BB0}" presName="parTx" presStyleLbl="revTx" presStyleIdx="4" presStyleCnt="7">
        <dgm:presLayoutVars>
          <dgm:chMax val="0"/>
          <dgm:chPref val="0"/>
        </dgm:presLayoutVars>
      </dgm:prSet>
      <dgm:spPr/>
    </dgm:pt>
    <dgm:pt modelId="{D416A989-48B6-4CF9-9344-6C4E5A4A7522}" type="pres">
      <dgm:prSet presAssocID="{0BF5D2A2-B0F2-4EE2-9845-946984373610}" presName="sibTrans" presStyleCnt="0"/>
      <dgm:spPr/>
    </dgm:pt>
    <dgm:pt modelId="{877AF4CA-C7B9-4985-910E-F07465E6C9F2}" type="pres">
      <dgm:prSet presAssocID="{98581F28-5AF5-4BF0-9385-C2C98E558820}" presName="compNode" presStyleCnt="0"/>
      <dgm:spPr/>
    </dgm:pt>
    <dgm:pt modelId="{D26672FA-8A25-4BDE-8209-0A3D9BD611B8}" type="pres">
      <dgm:prSet presAssocID="{98581F28-5AF5-4BF0-9385-C2C98E558820}" presName="bgRect" presStyleLbl="bgShp" presStyleIdx="5" presStyleCnt="7"/>
      <dgm:spPr/>
    </dgm:pt>
    <dgm:pt modelId="{F80724E7-77BB-4D8D-B4A4-A84C44398B21}" type="pres">
      <dgm:prSet presAssocID="{98581F28-5AF5-4BF0-9385-C2C98E558820}" presName="iconRect" presStyleLbl="node1" presStyleIdx="5" presStyleCnt="7"/>
      <dgm:spPr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cales of Justice"/>
        </a:ext>
      </dgm:extLst>
    </dgm:pt>
    <dgm:pt modelId="{9E5DD14F-16B1-45B2-8FB5-2D2E9ACC4B1D}" type="pres">
      <dgm:prSet presAssocID="{98581F28-5AF5-4BF0-9385-C2C98E558820}" presName="spaceRect" presStyleCnt="0"/>
      <dgm:spPr/>
    </dgm:pt>
    <dgm:pt modelId="{CB468187-0519-4141-B86B-42ADE3D0C01A}" type="pres">
      <dgm:prSet presAssocID="{98581F28-5AF5-4BF0-9385-C2C98E558820}" presName="parTx" presStyleLbl="revTx" presStyleIdx="5" presStyleCnt="7">
        <dgm:presLayoutVars>
          <dgm:chMax val="0"/>
          <dgm:chPref val="0"/>
        </dgm:presLayoutVars>
      </dgm:prSet>
      <dgm:spPr/>
    </dgm:pt>
    <dgm:pt modelId="{7C51A047-DCDF-4D71-8CEA-ABE618462332}" type="pres">
      <dgm:prSet presAssocID="{F8E9FCCF-835A-4411-87F7-12C06C9F455B}" presName="sibTrans" presStyleCnt="0"/>
      <dgm:spPr/>
    </dgm:pt>
    <dgm:pt modelId="{6812FDD3-EB42-4D27-B42F-361329FECAAF}" type="pres">
      <dgm:prSet presAssocID="{28E43F24-D890-492E-912F-719BA8F0A3A1}" presName="compNode" presStyleCnt="0"/>
      <dgm:spPr/>
    </dgm:pt>
    <dgm:pt modelId="{EE8031E6-BC9C-48CB-A311-76E0553D2121}" type="pres">
      <dgm:prSet presAssocID="{28E43F24-D890-492E-912F-719BA8F0A3A1}" presName="bgRect" presStyleLbl="bgShp" presStyleIdx="6" presStyleCnt="7"/>
      <dgm:spPr/>
    </dgm:pt>
    <dgm:pt modelId="{23A08905-228F-4EAA-9A99-2325FC83981E}" type="pres">
      <dgm:prSet presAssocID="{28E43F24-D890-492E-912F-719BA8F0A3A1}" presName="iconRect" presStyleLbl="node1" presStyleIdx="6" presStyleCnt="7"/>
      <dgm:spPr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do"/>
        </a:ext>
      </dgm:extLst>
    </dgm:pt>
    <dgm:pt modelId="{7B2151AB-C1DF-4796-B4AF-A6AE7A8C5A71}" type="pres">
      <dgm:prSet presAssocID="{28E43F24-D890-492E-912F-719BA8F0A3A1}" presName="spaceRect" presStyleCnt="0"/>
      <dgm:spPr/>
    </dgm:pt>
    <dgm:pt modelId="{C6CADF16-B1BD-4CC2-8458-EEA17C05C53D}" type="pres">
      <dgm:prSet presAssocID="{28E43F24-D890-492E-912F-719BA8F0A3A1}" presName="parTx" presStyleLbl="revTx" presStyleIdx="6" presStyleCnt="7">
        <dgm:presLayoutVars>
          <dgm:chMax val="0"/>
          <dgm:chPref val="0"/>
        </dgm:presLayoutVars>
      </dgm:prSet>
      <dgm:spPr/>
    </dgm:pt>
  </dgm:ptLst>
  <dgm:cxnLst>
    <dgm:cxn modelId="{3477CA03-C127-4F34-AEA1-1370E027EBB4}" type="presOf" srcId="{8A2A3C6B-87A7-41AC-ACEB-D0265340E3EE}" destId="{16E8A4D8-8F4D-4F2F-808A-3FA5CB3E4731}" srcOrd="0" destOrd="0" presId="urn:microsoft.com/office/officeart/2018/2/layout/IconVerticalSolidList"/>
    <dgm:cxn modelId="{6CB90404-A6BA-4906-964D-33454B30C2FD}" srcId="{2885E5C5-6469-4D29-B8A5-0A3E3EDC72FD}" destId="{0AD769B2-05E4-40E4-9F69-FF44629DE889}" srcOrd="0" destOrd="0" parTransId="{7137689E-1D9A-4F83-96CF-F86C6E958C30}" sibTransId="{E44BB364-35CB-4B18-905E-FFCACEFA5A89}"/>
    <dgm:cxn modelId="{036F0210-9F7C-45F9-B08E-53EBDDF79D38}" srcId="{2885E5C5-6469-4D29-B8A5-0A3E3EDC72FD}" destId="{8A2A3C6B-87A7-41AC-ACEB-D0265340E3EE}" srcOrd="2" destOrd="0" parTransId="{A8E79997-5420-4785-BDC9-37FC7CADF704}" sibTransId="{60294667-E5F7-4005-8286-F5DD50E10E47}"/>
    <dgm:cxn modelId="{35F9A617-5886-42A5-AE37-196BCFBA3135}" type="presOf" srcId="{28E43F24-D890-492E-912F-719BA8F0A3A1}" destId="{C6CADF16-B1BD-4CC2-8458-EEA17C05C53D}" srcOrd="0" destOrd="0" presId="urn:microsoft.com/office/officeart/2018/2/layout/IconVerticalSolidList"/>
    <dgm:cxn modelId="{AC910F35-ADAF-4B47-B25B-4346B7F00B12}" type="presOf" srcId="{88CB75D3-6A09-4892-AB10-E9B13B82EB52}" destId="{FA914BEA-20C4-4496-9755-5817D88B801B}" srcOrd="0" destOrd="0" presId="urn:microsoft.com/office/officeart/2018/2/layout/IconVerticalSolidList"/>
    <dgm:cxn modelId="{05A82A36-7490-4226-A156-344DE9E42B32}" type="presOf" srcId="{2885E5C5-6469-4D29-B8A5-0A3E3EDC72FD}" destId="{244F6F07-95A0-4476-9563-E6572F589ABE}" srcOrd="0" destOrd="0" presId="urn:microsoft.com/office/officeart/2018/2/layout/IconVerticalSolidList"/>
    <dgm:cxn modelId="{84769C4F-818F-4446-9E6A-DE39DB2B1C3D}" srcId="{2885E5C5-6469-4D29-B8A5-0A3E3EDC72FD}" destId="{88CB75D3-6A09-4892-AB10-E9B13B82EB52}" srcOrd="1" destOrd="0" parTransId="{306F90BF-8564-4762-AAAE-0CB930690C2D}" sibTransId="{FCB884B5-14E4-4478-AEF4-9B72337D1175}"/>
    <dgm:cxn modelId="{8D90FA6F-5B53-4550-ACBF-345281BE5078}" type="presOf" srcId="{0AD769B2-05E4-40E4-9F69-FF44629DE889}" destId="{DDB87883-AB45-425B-B239-AB486E195698}" srcOrd="0" destOrd="0" presId="urn:microsoft.com/office/officeart/2018/2/layout/IconVerticalSolidList"/>
    <dgm:cxn modelId="{E4F69572-3F93-40CF-8FBC-98E1B3556AC0}" srcId="{2885E5C5-6469-4D29-B8A5-0A3E3EDC72FD}" destId="{98581F28-5AF5-4BF0-9385-C2C98E558820}" srcOrd="5" destOrd="0" parTransId="{B2D05AF2-0FF1-4E54-B255-B200EA63D81E}" sibTransId="{F8E9FCCF-835A-4411-87F7-12C06C9F455B}"/>
    <dgm:cxn modelId="{82C92573-741D-4F7C-9325-D659801109A1}" type="presOf" srcId="{468B7A88-DBEA-4A8F-B227-872BBD878BB0}" destId="{6DEDBAE8-5A97-45F2-9B5D-C36B598E26B2}" srcOrd="0" destOrd="0" presId="urn:microsoft.com/office/officeart/2018/2/layout/IconVerticalSolidList"/>
    <dgm:cxn modelId="{AB250EA3-F6E0-49D7-B26E-BD0001C99780}" type="presOf" srcId="{EB49E3BD-ABBB-4B2A-B7E8-E2A82293F609}" destId="{F966EA11-EF9E-4ECD-A68C-8B2C15C02502}" srcOrd="0" destOrd="0" presId="urn:microsoft.com/office/officeart/2018/2/layout/IconVerticalSolidList"/>
    <dgm:cxn modelId="{1CC03DB1-A2EC-4BCD-9438-466B24F1A3D4}" srcId="{2885E5C5-6469-4D29-B8A5-0A3E3EDC72FD}" destId="{468B7A88-DBEA-4A8F-B227-872BBD878BB0}" srcOrd="4" destOrd="0" parTransId="{EF4AC9E0-CBF7-4E06-A9BC-E1485D199CAE}" sibTransId="{0BF5D2A2-B0F2-4EE2-9845-946984373610}"/>
    <dgm:cxn modelId="{D59B44B8-B37A-48E6-B5BE-DE637B5AD310}" srcId="{2885E5C5-6469-4D29-B8A5-0A3E3EDC72FD}" destId="{EB49E3BD-ABBB-4B2A-B7E8-E2A82293F609}" srcOrd="3" destOrd="0" parTransId="{D391DDD2-9ADB-4639-A63D-864D012F5DFE}" sibTransId="{20B9DA6A-31A1-448A-B11C-66380BE83E90}"/>
    <dgm:cxn modelId="{C5DED5C1-BB39-4CC1-8A09-8C8E244DE75E}" type="presOf" srcId="{98581F28-5AF5-4BF0-9385-C2C98E558820}" destId="{CB468187-0519-4141-B86B-42ADE3D0C01A}" srcOrd="0" destOrd="0" presId="urn:microsoft.com/office/officeart/2018/2/layout/IconVerticalSolidList"/>
    <dgm:cxn modelId="{CFCE2DCA-B639-451D-97D8-453C2D42030C}" srcId="{2885E5C5-6469-4D29-B8A5-0A3E3EDC72FD}" destId="{28E43F24-D890-492E-912F-719BA8F0A3A1}" srcOrd="6" destOrd="0" parTransId="{ECFEAA95-434D-4FF2-8990-26A7EC1573E3}" sibTransId="{0B866527-4318-41DA-8DBC-47EE2F8F448E}"/>
    <dgm:cxn modelId="{B729152C-8DA2-4D72-ACB3-DCEAFCC227EE}" type="presParOf" srcId="{244F6F07-95A0-4476-9563-E6572F589ABE}" destId="{254CD023-78B4-4994-990A-0733D4147F0A}" srcOrd="0" destOrd="0" presId="urn:microsoft.com/office/officeart/2018/2/layout/IconVerticalSolidList"/>
    <dgm:cxn modelId="{8DC035F3-106B-4589-BFCE-24FFB577FC90}" type="presParOf" srcId="{254CD023-78B4-4994-990A-0733D4147F0A}" destId="{33BF7BAB-B78D-45DD-941A-EA1996748B74}" srcOrd="0" destOrd="0" presId="urn:microsoft.com/office/officeart/2018/2/layout/IconVerticalSolidList"/>
    <dgm:cxn modelId="{89716FD3-DACA-4111-BD45-7D4C47BFEC9A}" type="presParOf" srcId="{254CD023-78B4-4994-990A-0733D4147F0A}" destId="{B8B54B07-BA13-4679-AF30-F44B743F2806}" srcOrd="1" destOrd="0" presId="urn:microsoft.com/office/officeart/2018/2/layout/IconVerticalSolidList"/>
    <dgm:cxn modelId="{FD3F146B-19B4-4BE2-9C9C-2BFA676DE72C}" type="presParOf" srcId="{254CD023-78B4-4994-990A-0733D4147F0A}" destId="{318CA171-66CB-4251-B8F1-9926F638485A}" srcOrd="2" destOrd="0" presId="urn:microsoft.com/office/officeart/2018/2/layout/IconVerticalSolidList"/>
    <dgm:cxn modelId="{3855A41C-F667-4247-8F85-9CE98C60A224}" type="presParOf" srcId="{254CD023-78B4-4994-990A-0733D4147F0A}" destId="{DDB87883-AB45-425B-B239-AB486E195698}" srcOrd="3" destOrd="0" presId="urn:microsoft.com/office/officeart/2018/2/layout/IconVerticalSolidList"/>
    <dgm:cxn modelId="{BAC6986A-EF6C-45D1-9BAA-88B4C5A98F59}" type="presParOf" srcId="{244F6F07-95A0-4476-9563-E6572F589ABE}" destId="{F3F2C18E-5D2F-4894-8A3D-FEFEAC2FBD8E}" srcOrd="1" destOrd="0" presId="urn:microsoft.com/office/officeart/2018/2/layout/IconVerticalSolidList"/>
    <dgm:cxn modelId="{81C17D96-7B16-43AE-9A63-0348267B18E8}" type="presParOf" srcId="{244F6F07-95A0-4476-9563-E6572F589ABE}" destId="{689A1E1C-4A5C-4F25-A28F-D5E085AB2B0B}" srcOrd="2" destOrd="0" presId="urn:microsoft.com/office/officeart/2018/2/layout/IconVerticalSolidList"/>
    <dgm:cxn modelId="{F2B91201-0492-4CAC-A3DE-DE517284185A}" type="presParOf" srcId="{689A1E1C-4A5C-4F25-A28F-D5E085AB2B0B}" destId="{4F3DFCEE-E47E-4DFA-B3B5-568D512C7609}" srcOrd="0" destOrd="0" presId="urn:microsoft.com/office/officeart/2018/2/layout/IconVerticalSolidList"/>
    <dgm:cxn modelId="{CFB68AF7-DA6C-493A-80C4-629B58E6A3B7}" type="presParOf" srcId="{689A1E1C-4A5C-4F25-A28F-D5E085AB2B0B}" destId="{88FE25FE-7BBC-4A71-9B88-5D01A471D47A}" srcOrd="1" destOrd="0" presId="urn:microsoft.com/office/officeart/2018/2/layout/IconVerticalSolidList"/>
    <dgm:cxn modelId="{E9EBA52B-69E2-4DA4-B58F-6BD8E28046DC}" type="presParOf" srcId="{689A1E1C-4A5C-4F25-A28F-D5E085AB2B0B}" destId="{B08F4C4F-57EE-45CB-A566-6D121B23650A}" srcOrd="2" destOrd="0" presId="urn:microsoft.com/office/officeart/2018/2/layout/IconVerticalSolidList"/>
    <dgm:cxn modelId="{C1C932AC-37E7-45DC-A325-32E209B9DF61}" type="presParOf" srcId="{689A1E1C-4A5C-4F25-A28F-D5E085AB2B0B}" destId="{FA914BEA-20C4-4496-9755-5817D88B801B}" srcOrd="3" destOrd="0" presId="urn:microsoft.com/office/officeart/2018/2/layout/IconVerticalSolidList"/>
    <dgm:cxn modelId="{3DCA3EB7-9DBC-4AF2-A465-76102B2985CB}" type="presParOf" srcId="{244F6F07-95A0-4476-9563-E6572F589ABE}" destId="{B19DABE0-76AC-4FB6-863E-7FE4AB4E9C8B}" srcOrd="3" destOrd="0" presId="urn:microsoft.com/office/officeart/2018/2/layout/IconVerticalSolidList"/>
    <dgm:cxn modelId="{51486210-AB50-44BF-9C58-2323DA2C45EF}" type="presParOf" srcId="{244F6F07-95A0-4476-9563-E6572F589ABE}" destId="{9D292F71-157F-4615-B8C9-78DA20A068A1}" srcOrd="4" destOrd="0" presId="urn:microsoft.com/office/officeart/2018/2/layout/IconVerticalSolidList"/>
    <dgm:cxn modelId="{553BC2BC-A6C8-4129-B718-7824D6D82F92}" type="presParOf" srcId="{9D292F71-157F-4615-B8C9-78DA20A068A1}" destId="{307B26AD-1422-4F32-B73B-63F7E1E52CE9}" srcOrd="0" destOrd="0" presId="urn:microsoft.com/office/officeart/2018/2/layout/IconVerticalSolidList"/>
    <dgm:cxn modelId="{3B3123DE-A4FD-4050-836E-EAFC49DBB605}" type="presParOf" srcId="{9D292F71-157F-4615-B8C9-78DA20A068A1}" destId="{862AEB24-FA40-4C4E-B107-5378D1AEC0B6}" srcOrd="1" destOrd="0" presId="urn:microsoft.com/office/officeart/2018/2/layout/IconVerticalSolidList"/>
    <dgm:cxn modelId="{9A77C105-1B83-4556-8506-F512B6167F30}" type="presParOf" srcId="{9D292F71-157F-4615-B8C9-78DA20A068A1}" destId="{31E980EF-FBD3-4440-A347-3A299E13CD14}" srcOrd="2" destOrd="0" presId="urn:microsoft.com/office/officeart/2018/2/layout/IconVerticalSolidList"/>
    <dgm:cxn modelId="{15E12D19-32AC-4EB6-BA0E-2F44C1AB809C}" type="presParOf" srcId="{9D292F71-157F-4615-B8C9-78DA20A068A1}" destId="{16E8A4D8-8F4D-4F2F-808A-3FA5CB3E4731}" srcOrd="3" destOrd="0" presId="urn:microsoft.com/office/officeart/2018/2/layout/IconVerticalSolidList"/>
    <dgm:cxn modelId="{54C53CEB-47E9-4E9C-9904-A694DC6BBF64}" type="presParOf" srcId="{244F6F07-95A0-4476-9563-E6572F589ABE}" destId="{4A3A6787-25C6-420B-99D2-12AEE2E3E250}" srcOrd="5" destOrd="0" presId="urn:microsoft.com/office/officeart/2018/2/layout/IconVerticalSolidList"/>
    <dgm:cxn modelId="{38567CFB-1286-4C90-B686-C75049073B2A}" type="presParOf" srcId="{244F6F07-95A0-4476-9563-E6572F589ABE}" destId="{905E5BC5-19C0-4CD3-AC89-9950B66BEB22}" srcOrd="6" destOrd="0" presId="urn:microsoft.com/office/officeart/2018/2/layout/IconVerticalSolidList"/>
    <dgm:cxn modelId="{7B719FB5-CF9F-4470-8495-A1A005CAAE80}" type="presParOf" srcId="{905E5BC5-19C0-4CD3-AC89-9950B66BEB22}" destId="{277E62DB-A665-45D3-B471-020AA3746DE9}" srcOrd="0" destOrd="0" presId="urn:microsoft.com/office/officeart/2018/2/layout/IconVerticalSolidList"/>
    <dgm:cxn modelId="{609443DA-B58B-43C0-A75B-8AF9D89804D9}" type="presParOf" srcId="{905E5BC5-19C0-4CD3-AC89-9950B66BEB22}" destId="{A20A061B-BD00-492A-8DFD-C311E72CDC16}" srcOrd="1" destOrd="0" presId="urn:microsoft.com/office/officeart/2018/2/layout/IconVerticalSolidList"/>
    <dgm:cxn modelId="{BC06B529-5002-4430-9773-4BDA63082D77}" type="presParOf" srcId="{905E5BC5-19C0-4CD3-AC89-9950B66BEB22}" destId="{4F39A0D3-DCB7-4F49-AD31-3DC0FF3D2B47}" srcOrd="2" destOrd="0" presId="urn:microsoft.com/office/officeart/2018/2/layout/IconVerticalSolidList"/>
    <dgm:cxn modelId="{2F2C0973-F50C-4F0B-994B-73F6D469CEE7}" type="presParOf" srcId="{905E5BC5-19C0-4CD3-AC89-9950B66BEB22}" destId="{F966EA11-EF9E-4ECD-A68C-8B2C15C02502}" srcOrd="3" destOrd="0" presId="urn:microsoft.com/office/officeart/2018/2/layout/IconVerticalSolidList"/>
    <dgm:cxn modelId="{3C8746E0-0FD1-445B-A4E2-47C811A85C54}" type="presParOf" srcId="{244F6F07-95A0-4476-9563-E6572F589ABE}" destId="{46337DF5-12EC-4DC6-9A9D-8A1C606FC6F6}" srcOrd="7" destOrd="0" presId="urn:microsoft.com/office/officeart/2018/2/layout/IconVerticalSolidList"/>
    <dgm:cxn modelId="{8B16F22A-0869-4EFD-8C5C-9F5FEA805202}" type="presParOf" srcId="{244F6F07-95A0-4476-9563-E6572F589ABE}" destId="{6E347CAD-D7AA-49D3-ABF8-130DEDF3EA14}" srcOrd="8" destOrd="0" presId="urn:microsoft.com/office/officeart/2018/2/layout/IconVerticalSolidList"/>
    <dgm:cxn modelId="{2092363F-C499-48DD-B0B0-B089FA3CE2E5}" type="presParOf" srcId="{6E347CAD-D7AA-49D3-ABF8-130DEDF3EA14}" destId="{2A3F2B46-5D2E-49B9-B428-F5B66CD5C74E}" srcOrd="0" destOrd="0" presId="urn:microsoft.com/office/officeart/2018/2/layout/IconVerticalSolidList"/>
    <dgm:cxn modelId="{632E7561-15E6-4F3C-80E7-D4FA8FFFD899}" type="presParOf" srcId="{6E347CAD-D7AA-49D3-ABF8-130DEDF3EA14}" destId="{B58F5234-0FE4-470D-A48E-1E642369BD64}" srcOrd="1" destOrd="0" presId="urn:microsoft.com/office/officeart/2018/2/layout/IconVerticalSolidList"/>
    <dgm:cxn modelId="{A9E5AEC8-4CAF-4D5C-B029-E7E14B4B2FF4}" type="presParOf" srcId="{6E347CAD-D7AA-49D3-ABF8-130DEDF3EA14}" destId="{78B652D7-DA62-49E8-894B-5408E3B794C3}" srcOrd="2" destOrd="0" presId="urn:microsoft.com/office/officeart/2018/2/layout/IconVerticalSolidList"/>
    <dgm:cxn modelId="{0AE46B23-BBF2-48DD-8E13-7A71A8E66FF7}" type="presParOf" srcId="{6E347CAD-D7AA-49D3-ABF8-130DEDF3EA14}" destId="{6DEDBAE8-5A97-45F2-9B5D-C36B598E26B2}" srcOrd="3" destOrd="0" presId="urn:microsoft.com/office/officeart/2018/2/layout/IconVerticalSolidList"/>
    <dgm:cxn modelId="{B31782F2-13D7-4C36-8A6F-D1A4F3099500}" type="presParOf" srcId="{244F6F07-95A0-4476-9563-E6572F589ABE}" destId="{D416A989-48B6-4CF9-9344-6C4E5A4A7522}" srcOrd="9" destOrd="0" presId="urn:microsoft.com/office/officeart/2018/2/layout/IconVerticalSolidList"/>
    <dgm:cxn modelId="{DE54DFD2-457A-479F-90F4-EAA043DF85D0}" type="presParOf" srcId="{244F6F07-95A0-4476-9563-E6572F589ABE}" destId="{877AF4CA-C7B9-4985-910E-F07465E6C9F2}" srcOrd="10" destOrd="0" presId="urn:microsoft.com/office/officeart/2018/2/layout/IconVerticalSolidList"/>
    <dgm:cxn modelId="{2BD3A2F9-A20B-4A3B-9A0A-47E04270A3CD}" type="presParOf" srcId="{877AF4CA-C7B9-4985-910E-F07465E6C9F2}" destId="{D26672FA-8A25-4BDE-8209-0A3D9BD611B8}" srcOrd="0" destOrd="0" presId="urn:microsoft.com/office/officeart/2018/2/layout/IconVerticalSolidList"/>
    <dgm:cxn modelId="{BBC0DFA6-963E-450F-A4FB-DAFD0EEE522C}" type="presParOf" srcId="{877AF4CA-C7B9-4985-910E-F07465E6C9F2}" destId="{F80724E7-77BB-4D8D-B4A4-A84C44398B21}" srcOrd="1" destOrd="0" presId="urn:microsoft.com/office/officeart/2018/2/layout/IconVerticalSolidList"/>
    <dgm:cxn modelId="{18B5AFBD-90CF-4AD3-9CC2-9EEF62E1103C}" type="presParOf" srcId="{877AF4CA-C7B9-4985-910E-F07465E6C9F2}" destId="{9E5DD14F-16B1-45B2-8FB5-2D2E9ACC4B1D}" srcOrd="2" destOrd="0" presId="urn:microsoft.com/office/officeart/2018/2/layout/IconVerticalSolidList"/>
    <dgm:cxn modelId="{D6468641-7296-40C3-B31D-FB60B39BAEFE}" type="presParOf" srcId="{877AF4CA-C7B9-4985-910E-F07465E6C9F2}" destId="{CB468187-0519-4141-B86B-42ADE3D0C01A}" srcOrd="3" destOrd="0" presId="urn:microsoft.com/office/officeart/2018/2/layout/IconVerticalSolidList"/>
    <dgm:cxn modelId="{831153B9-8D65-4F74-9508-01D55D27895D}" type="presParOf" srcId="{244F6F07-95A0-4476-9563-E6572F589ABE}" destId="{7C51A047-DCDF-4D71-8CEA-ABE618462332}" srcOrd="11" destOrd="0" presId="urn:microsoft.com/office/officeart/2018/2/layout/IconVerticalSolidList"/>
    <dgm:cxn modelId="{12FB10D3-D8F2-4568-B33B-15E6D4D388D8}" type="presParOf" srcId="{244F6F07-95A0-4476-9563-E6572F589ABE}" destId="{6812FDD3-EB42-4D27-B42F-361329FECAAF}" srcOrd="12" destOrd="0" presId="urn:microsoft.com/office/officeart/2018/2/layout/IconVerticalSolidList"/>
    <dgm:cxn modelId="{10E0EDF8-5513-4262-8738-DE898C0CC61D}" type="presParOf" srcId="{6812FDD3-EB42-4D27-B42F-361329FECAAF}" destId="{EE8031E6-BC9C-48CB-A311-76E0553D2121}" srcOrd="0" destOrd="0" presId="urn:microsoft.com/office/officeart/2018/2/layout/IconVerticalSolidList"/>
    <dgm:cxn modelId="{7E16468D-E33E-42D9-A741-E93EB074DF09}" type="presParOf" srcId="{6812FDD3-EB42-4D27-B42F-361329FECAAF}" destId="{23A08905-228F-4EAA-9A99-2325FC83981E}" srcOrd="1" destOrd="0" presId="urn:microsoft.com/office/officeart/2018/2/layout/IconVerticalSolidList"/>
    <dgm:cxn modelId="{A3445EF2-7264-4833-9D33-FD427D20088C}" type="presParOf" srcId="{6812FDD3-EB42-4D27-B42F-361329FECAAF}" destId="{7B2151AB-C1DF-4796-B4AF-A6AE7A8C5A71}" srcOrd="2" destOrd="0" presId="urn:microsoft.com/office/officeart/2018/2/layout/IconVerticalSolidList"/>
    <dgm:cxn modelId="{77BA709F-6F49-48AE-B913-268DF2A49320}" type="presParOf" srcId="{6812FDD3-EB42-4D27-B42F-361329FECAAF}" destId="{C6CADF16-B1BD-4CC2-8458-EEA17C05C53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3BF7BAB-B78D-45DD-941A-EA1996748B74}">
      <dsp:nvSpPr>
        <dsp:cNvPr id="0" name=""/>
        <dsp:cNvSpPr/>
      </dsp:nvSpPr>
      <dsp:spPr>
        <a:xfrm>
          <a:off x="0" y="471"/>
          <a:ext cx="6364224" cy="64857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8B54B07-BA13-4679-AF30-F44B743F2806}">
      <dsp:nvSpPr>
        <dsp:cNvPr id="0" name=""/>
        <dsp:cNvSpPr/>
      </dsp:nvSpPr>
      <dsp:spPr>
        <a:xfrm>
          <a:off x="196194" y="146400"/>
          <a:ext cx="356716" cy="35671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B87883-AB45-425B-B239-AB486E195698}">
      <dsp:nvSpPr>
        <dsp:cNvPr id="0" name=""/>
        <dsp:cNvSpPr/>
      </dsp:nvSpPr>
      <dsp:spPr>
        <a:xfrm>
          <a:off x="749104" y="471"/>
          <a:ext cx="5615119" cy="6485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641" tIns="68641" rIns="68641" bIns="6864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Plan reserves and backup generation</a:t>
          </a:r>
          <a:endParaRPr lang="en-US" sz="1600" kern="1200" dirty="0"/>
        </a:p>
      </dsp:txBody>
      <dsp:txXfrm>
        <a:off x="749104" y="471"/>
        <a:ext cx="5615119" cy="648575"/>
      </dsp:txXfrm>
    </dsp:sp>
    <dsp:sp modelId="{4F3DFCEE-E47E-4DFA-B3B5-568D512C7609}">
      <dsp:nvSpPr>
        <dsp:cNvPr id="0" name=""/>
        <dsp:cNvSpPr/>
      </dsp:nvSpPr>
      <dsp:spPr>
        <a:xfrm>
          <a:off x="0" y="811190"/>
          <a:ext cx="6364224" cy="64857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8FE25FE-7BBC-4A71-9B88-5D01A471D47A}">
      <dsp:nvSpPr>
        <dsp:cNvPr id="0" name=""/>
        <dsp:cNvSpPr/>
      </dsp:nvSpPr>
      <dsp:spPr>
        <a:xfrm>
          <a:off x="196194" y="957119"/>
          <a:ext cx="356716" cy="35671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914BEA-20C4-4496-9755-5817D88B801B}">
      <dsp:nvSpPr>
        <dsp:cNvPr id="0" name=""/>
        <dsp:cNvSpPr/>
      </dsp:nvSpPr>
      <dsp:spPr>
        <a:xfrm>
          <a:off x="749104" y="811190"/>
          <a:ext cx="5615119" cy="6485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641" tIns="68641" rIns="68641" bIns="6864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 dirty="0"/>
            <a:t>Schedule maintenance on safer days </a:t>
          </a:r>
          <a:endParaRPr lang="en-US" sz="1600" kern="1200" dirty="0"/>
        </a:p>
      </dsp:txBody>
      <dsp:txXfrm>
        <a:off x="749104" y="811190"/>
        <a:ext cx="5615119" cy="648575"/>
      </dsp:txXfrm>
    </dsp:sp>
    <dsp:sp modelId="{307B26AD-1422-4F32-B73B-63F7E1E52CE9}">
      <dsp:nvSpPr>
        <dsp:cNvPr id="0" name=""/>
        <dsp:cNvSpPr/>
      </dsp:nvSpPr>
      <dsp:spPr>
        <a:xfrm>
          <a:off x="0" y="1621909"/>
          <a:ext cx="6364224" cy="64857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62AEB24-FA40-4C4E-B107-5378D1AEC0B6}">
      <dsp:nvSpPr>
        <dsp:cNvPr id="0" name=""/>
        <dsp:cNvSpPr/>
      </dsp:nvSpPr>
      <dsp:spPr>
        <a:xfrm>
          <a:off x="196194" y="1767838"/>
          <a:ext cx="356716" cy="35671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E8A4D8-8F4D-4F2F-808A-3FA5CB3E4731}">
      <dsp:nvSpPr>
        <dsp:cNvPr id="0" name=""/>
        <dsp:cNvSpPr/>
      </dsp:nvSpPr>
      <dsp:spPr>
        <a:xfrm>
          <a:off x="749104" y="1621909"/>
          <a:ext cx="5615119" cy="6485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641" tIns="68641" rIns="68641" bIns="6864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/>
            <a:t>Reduce balancing costs: avoid over/under planning</a:t>
          </a:r>
          <a:endParaRPr lang="en-US" sz="1600" kern="1200"/>
        </a:p>
      </dsp:txBody>
      <dsp:txXfrm>
        <a:off x="749104" y="1621909"/>
        <a:ext cx="5615119" cy="648575"/>
      </dsp:txXfrm>
    </dsp:sp>
    <dsp:sp modelId="{277E62DB-A665-45D3-B471-020AA3746DE9}">
      <dsp:nvSpPr>
        <dsp:cNvPr id="0" name=""/>
        <dsp:cNvSpPr/>
      </dsp:nvSpPr>
      <dsp:spPr>
        <a:xfrm>
          <a:off x="0" y="2432628"/>
          <a:ext cx="6364224" cy="64857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20A061B-BD00-492A-8DFD-C311E72CDC16}">
      <dsp:nvSpPr>
        <dsp:cNvPr id="0" name=""/>
        <dsp:cNvSpPr/>
      </dsp:nvSpPr>
      <dsp:spPr>
        <a:xfrm>
          <a:off x="196194" y="2578557"/>
          <a:ext cx="356716" cy="35671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966EA11-EF9E-4ECD-A68C-8B2C15C02502}">
      <dsp:nvSpPr>
        <dsp:cNvPr id="0" name=""/>
        <dsp:cNvSpPr/>
      </dsp:nvSpPr>
      <dsp:spPr>
        <a:xfrm>
          <a:off x="749104" y="2432628"/>
          <a:ext cx="5615119" cy="6485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641" tIns="68641" rIns="68641" bIns="6864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kern="1200"/>
            <a:t>Intervals help decisions: plan for worst-case and best-case scenarios</a:t>
          </a:r>
          <a:endParaRPr lang="en-US" sz="1600" kern="1200"/>
        </a:p>
      </dsp:txBody>
      <dsp:txXfrm>
        <a:off x="749104" y="2432628"/>
        <a:ext cx="5615119" cy="648575"/>
      </dsp:txXfrm>
    </dsp:sp>
    <dsp:sp modelId="{2A3F2B46-5D2E-49B9-B428-F5B66CD5C74E}">
      <dsp:nvSpPr>
        <dsp:cNvPr id="0" name=""/>
        <dsp:cNvSpPr/>
      </dsp:nvSpPr>
      <dsp:spPr>
        <a:xfrm>
          <a:off x="0" y="3243347"/>
          <a:ext cx="6364224" cy="64857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58F5234-0FE4-470D-A48E-1E642369BD64}">
      <dsp:nvSpPr>
        <dsp:cNvPr id="0" name=""/>
        <dsp:cNvSpPr/>
      </dsp:nvSpPr>
      <dsp:spPr>
        <a:xfrm>
          <a:off x="196194" y="3389276"/>
          <a:ext cx="356716" cy="356716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EDBAE8-5A97-45F2-9B5D-C36B598E26B2}">
      <dsp:nvSpPr>
        <dsp:cNvPr id="0" name=""/>
        <dsp:cNvSpPr/>
      </dsp:nvSpPr>
      <dsp:spPr>
        <a:xfrm>
          <a:off x="749104" y="3243347"/>
          <a:ext cx="5615119" cy="6485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641" tIns="68641" rIns="68641" bIns="6864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/>
            <a:t>Impact if no forecast /bad forecast:</a:t>
          </a:r>
          <a:endParaRPr lang="en-US" sz="1600" kern="1200"/>
        </a:p>
      </dsp:txBody>
      <dsp:txXfrm>
        <a:off x="749104" y="3243347"/>
        <a:ext cx="5615119" cy="648575"/>
      </dsp:txXfrm>
    </dsp:sp>
    <dsp:sp modelId="{D26672FA-8A25-4BDE-8209-0A3D9BD611B8}">
      <dsp:nvSpPr>
        <dsp:cNvPr id="0" name=""/>
        <dsp:cNvSpPr/>
      </dsp:nvSpPr>
      <dsp:spPr>
        <a:xfrm>
          <a:off x="0" y="4054066"/>
          <a:ext cx="6364224" cy="64857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80724E7-77BB-4D8D-B4A4-A84C44398B21}">
      <dsp:nvSpPr>
        <dsp:cNvPr id="0" name=""/>
        <dsp:cNvSpPr/>
      </dsp:nvSpPr>
      <dsp:spPr>
        <a:xfrm>
          <a:off x="196194" y="4199995"/>
          <a:ext cx="356716" cy="356716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B468187-0519-4141-B86B-42ADE3D0C01A}">
      <dsp:nvSpPr>
        <dsp:cNvPr id="0" name=""/>
        <dsp:cNvSpPr/>
      </dsp:nvSpPr>
      <dsp:spPr>
        <a:xfrm>
          <a:off x="749104" y="4054066"/>
          <a:ext cx="5615119" cy="6485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641" tIns="68641" rIns="68641" bIns="6864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/>
            <a:t>No forecast </a:t>
          </a:r>
          <a:r>
            <a:rPr lang="en-GB" sz="1600" kern="1200">
              <a:sym typeface="Wingdings" panose="05000000000000000000" pitchFamily="2" charset="2"/>
            </a:rPr>
            <a:t></a:t>
          </a:r>
          <a:r>
            <a:rPr lang="en-GB" sz="1600" kern="1200"/>
            <a:t> more last-minute actions, higher balancing cost and risk</a:t>
          </a:r>
          <a:endParaRPr lang="en-US" sz="1600" kern="1200"/>
        </a:p>
      </dsp:txBody>
      <dsp:txXfrm>
        <a:off x="749104" y="4054066"/>
        <a:ext cx="5615119" cy="648575"/>
      </dsp:txXfrm>
    </dsp:sp>
    <dsp:sp modelId="{EE8031E6-BC9C-48CB-A311-76E0553D2121}">
      <dsp:nvSpPr>
        <dsp:cNvPr id="0" name=""/>
        <dsp:cNvSpPr/>
      </dsp:nvSpPr>
      <dsp:spPr>
        <a:xfrm>
          <a:off x="0" y="4864785"/>
          <a:ext cx="6364224" cy="648575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3A08905-228F-4EAA-9A99-2325FC83981E}">
      <dsp:nvSpPr>
        <dsp:cNvPr id="0" name=""/>
        <dsp:cNvSpPr/>
      </dsp:nvSpPr>
      <dsp:spPr>
        <a:xfrm>
          <a:off x="196194" y="5010715"/>
          <a:ext cx="356716" cy="356716"/>
        </a:xfrm>
        <a:prstGeom prst="rect">
          <a:avLst/>
        </a:prstGeom>
        <a:blipFill>
          <a:blip xmlns:r="http://schemas.openxmlformats.org/officeDocument/2006/relationships" r:embed="rId1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CADF16-B1BD-4CC2-8458-EEA17C05C53D}">
      <dsp:nvSpPr>
        <dsp:cNvPr id="0" name=""/>
        <dsp:cNvSpPr/>
      </dsp:nvSpPr>
      <dsp:spPr>
        <a:xfrm>
          <a:off x="749104" y="4864785"/>
          <a:ext cx="5615119" cy="64857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641" tIns="68641" rIns="68641" bIns="68641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 dirty="0"/>
            <a:t>Bad forecast </a:t>
          </a:r>
          <a:r>
            <a:rPr lang="en-GB" sz="1600" kern="1200" dirty="0">
              <a:sym typeface="Wingdings" panose="05000000000000000000" pitchFamily="2" charset="2"/>
            </a:rPr>
            <a:t></a:t>
          </a:r>
          <a:r>
            <a:rPr lang="en-GB" sz="1600" kern="1200" dirty="0"/>
            <a:t> wrong reserve planning</a:t>
          </a:r>
          <a:endParaRPr lang="en-US" sz="1600" kern="1200" dirty="0"/>
        </a:p>
      </dsp:txBody>
      <dsp:txXfrm>
        <a:off x="749104" y="4864785"/>
        <a:ext cx="5615119" cy="6485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209506-3838-B9DB-188B-B8BE9E2A7C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49EBE80-7670-9D2E-FC3C-B9FFA95AEC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EDE5C56-0F12-F54E-40B6-FD2368986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E060621-99F8-F273-1B65-AA4552207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11626BE-93BE-C335-33A8-7EE91105C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9613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E1F159-547A-C66A-18E8-6F4DA66A6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D234C59-4348-1C7E-D6E1-F5995C7BC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51C34EB-8ED9-0B92-9D18-646FED6A9F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4B4143A-699B-D2D4-F9D8-98EA00634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FF64A5B-F057-1899-33BC-1B53F259DE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038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1D57EE-2E3F-78B0-C115-5F6B00E7A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383BE68-EA12-38E8-1E4F-9B906A1F89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D756A73-7A9E-615C-6393-E6F6B88A26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2F6152-8900-D706-E3F5-116E7A8D1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02715DD-320C-A4FE-63B8-589A02B99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84066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1043E64-F6DB-D5F8-E62F-D828C46E87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D34E4DC-6D8D-AB32-41FD-C986762CD81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CCA2DB3-9C66-A462-C308-7A57B2B2D5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B7D6BD7-228D-FDC4-6D08-0BC706FC8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12D4964-4F1C-A423-62F2-7675CEAE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6D4312AD-4BAC-5F28-F2C5-10F30E8B83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5960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443854-2205-9A89-94B1-E2B3B1AFA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35DFAB7-4FA7-82F3-63A9-9B26FE696A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E3DCFC8-F4AB-47D7-B2A0-226810AE78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37CAE76-6EC0-6008-9490-8FF73C1958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116259B5-7F36-34A1-06FA-7D1DE6C728F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CA474E61-B68B-5649-E561-D569B41B8F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4B234976-B882-B362-B26D-F31B0A951B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4DB288CD-90E0-C4E4-9362-DB1FB5D1B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82825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7A92CF-E4EF-8BBA-3465-523BF9B0D6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51818A9-EF49-0344-8F5D-CA5117FCC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8F37F25-AB01-F98C-49D0-116288929F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68BFA8D-6275-C768-C272-DC312DE70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15677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44A8BE2F-EA2A-F9DC-41D2-3D9CB443A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F9CCB02A-9BAD-D423-2697-D7E4709F3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25DDD53-8988-3C7C-5FEB-72A33A043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07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8BB546-D01A-B38A-A790-48B4ABE83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DFF7326-5813-04DD-8B79-A2F881B3CF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41DBCF5-B24A-5729-23C9-4C9CE1B935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FEEF1A4E-3229-6801-C2E9-B1665DC847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018A5267-B0B9-E96E-D78D-318AA2919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1A92FB9-3E1F-73CD-B936-20261FDE3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4916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08A1B9D-2C86-9FC6-F102-313C977048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13897A5-67E4-D7AB-ED5F-6387B6E6D1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D16A3F8-9FC0-7943-EC27-BC0A509916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060576D6-3D91-32FB-C361-E471CB246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5F3E50A-1685-73FB-C5BA-60DE22D78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46578C0-48BD-AA93-DED8-1958C6640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196402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D519A9-5DAF-D3DB-6236-187CF0D98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529126A-884E-87A2-5CA1-7928837950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C99097E-3281-2462-D25B-E891975668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B0EDF42-1CA7-1AF5-3248-FDC5AE7CF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844F1EC-F5EA-612D-59F1-1B0C3D162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0165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806FB9EE-5829-E22A-C847-3BEC8A0A4C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EF8E8BAF-7D7C-3A47-707A-C9D6695EEE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D6F70E-2C61-765D-465B-08247568A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FD437-33C7-4B24-B6C7-F91A3EACF5E2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80D1A55-3FDD-1EC1-6463-7EEC4E2D7B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5BCDF0-E29E-1077-77AD-BBCE5E4B4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5986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485D735E-226F-673D-B258-56093EAB7F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GB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5D30E5BD-52FD-8D85-38BA-2D2A03F09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GB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43A931E-B444-A338-D0C0-7BCDB996E8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BFD437-33C7-4B24-B6C7-F91A3EACF5E2}" type="datetimeFigureOut">
              <a:rPr lang="en-GB" smtClean="0"/>
              <a:t>22/01/2026</a:t>
            </a:fld>
            <a:endParaRPr lang="en-GB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B97DB7D-B08A-BA8A-D9BD-3CE0CF1D42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8D3497B-F224-1D0F-B100-A776D691DD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50E5583-4A11-4BD7-8657-C3BAC446E1E4}" type="slidenum">
              <a:rPr lang="en-GB" smtClean="0"/>
              <a:t>‹Nº›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2499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C61293E-6EBE-43EF-A52C-9BEBFD7679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34817C8-D649-CE1A-DBBC-856DA9F6E2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97762" y="329184"/>
            <a:ext cx="6251110" cy="1783080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algn="l"/>
            <a:r>
              <a:rPr lang="en-US" sz="4200" dirty="0"/>
              <a:t>Forecasting Spain Daily Electricity Generation (REE) January 2026</a:t>
            </a:r>
          </a:p>
        </p:txBody>
      </p:sp>
      <p:pic>
        <p:nvPicPr>
          <p:cNvPr id="5" name="Picture 4" descr="Una granja de paneles solares">
            <a:extLst>
              <a:ext uri="{FF2B5EF4-FFF2-40B4-BE49-F238E27FC236}">
                <a16:creationId xmlns:a16="http://schemas.microsoft.com/office/drawing/2014/main" id="{ABE6EBB4-BA15-B696-8C3E-613C2F9794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088" r="22921" b="-1"/>
          <a:stretch>
            <a:fillRect/>
          </a:stretch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19" name="sketchy line">
            <a:extLst>
              <a:ext uri="{FF2B5EF4-FFF2-40B4-BE49-F238E27FC236}">
                <a16:creationId xmlns:a16="http://schemas.microsoft.com/office/drawing/2014/main" id="{21540236-BFD5-4A9D-8840-4703E7F768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97762" y="237494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7C307ED-4B8A-8525-E6FF-511BA5EF6E7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97762" y="2706624"/>
            <a:ext cx="6251110" cy="3483864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200" dirty="0"/>
              <a:t>Capstone Forecasting Project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200" dirty="0"/>
              <a:t>Time Series Analysis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200" dirty="0"/>
              <a:t>Top-7 generation technologies | Daily forecasts +     uncertainty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200" dirty="0"/>
              <a:t>Team: Spanish Forecasters </a:t>
            </a:r>
          </a:p>
          <a:p>
            <a:pPr algn="l"/>
            <a:endParaRPr lang="en-US" sz="2200" dirty="0"/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200" dirty="0"/>
          </a:p>
          <a:p>
            <a:pPr indent="-228600" algn="l">
              <a:buFont typeface="Arial" panose="020B0604020202020204" pitchFamily="34" charset="0"/>
              <a:buChar char="•"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78177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4FFBEE45-F140-49D5-85EA-C78C24340B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87C6E7F-E335-FF39-BC2D-8AD08573E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828444"/>
          </a:xfrm>
        </p:spPr>
        <p:txBody>
          <a:bodyPr>
            <a:normAutofit/>
          </a:bodyPr>
          <a:lstStyle/>
          <a:p>
            <a:r>
              <a:rPr lang="en-GB" sz="5200"/>
              <a:t>Team &amp; Contributions.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9F21CB2-11F2-98CB-E598-0E906090B7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2398626"/>
            <a:ext cx="5158427" cy="3730460"/>
          </a:xfrm>
        </p:spPr>
        <p:txBody>
          <a:bodyPr>
            <a:normAutofit/>
          </a:bodyPr>
          <a:lstStyle/>
          <a:p>
            <a:r>
              <a:rPr lang="en-GB" sz="2000" dirty="0"/>
              <a:t>Enrique Ruiz:</a:t>
            </a:r>
          </a:p>
          <a:p>
            <a:pPr lvl="1"/>
            <a:r>
              <a:rPr lang="en-GB" sz="2000" dirty="0"/>
              <a:t>Data preparation (CSV </a:t>
            </a:r>
            <a:r>
              <a:rPr lang="en-GB" sz="2000" dirty="0">
                <a:sym typeface="Wingdings" panose="05000000000000000000" pitchFamily="2" charset="2"/>
              </a:rPr>
              <a:t> clean panel dataset)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Forecasting pipeline implementation (train/</a:t>
            </a:r>
            <a:r>
              <a:rPr lang="en-GB" sz="2000" dirty="0" err="1">
                <a:sym typeface="Wingdings" panose="05000000000000000000" pitchFamily="2" charset="2"/>
              </a:rPr>
              <a:t>val</a:t>
            </a:r>
            <a:r>
              <a:rPr lang="en-GB" sz="2000" dirty="0">
                <a:sym typeface="Wingdings" panose="05000000000000000000" pitchFamily="2" charset="2"/>
              </a:rPr>
              <a:t>/test split)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Evaluation and model selection (metrics + plots)</a:t>
            </a:r>
          </a:p>
          <a:p>
            <a:pPr lvl="1"/>
            <a:r>
              <a:rPr lang="en-GB" sz="2000" dirty="0">
                <a:sym typeface="Wingdings" panose="05000000000000000000" pitchFamily="2" charset="2"/>
              </a:rPr>
              <a:t>Problem description (what we want to predict and why it matters)</a:t>
            </a:r>
          </a:p>
          <a:p>
            <a:pPr marL="457200" lvl="1" indent="0">
              <a:buNone/>
            </a:pPr>
            <a:endParaRPr lang="en-GB" sz="2000" dirty="0"/>
          </a:p>
          <a:p>
            <a:pPr marL="0" indent="0">
              <a:buNone/>
            </a:pPr>
            <a:endParaRPr lang="en-GB" sz="2000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CD08206-EE7A-3E02-0120-39AE8E2E90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9154" y="2398626"/>
            <a:ext cx="5164645" cy="3730460"/>
          </a:xfrm>
        </p:spPr>
        <p:txBody>
          <a:bodyPr>
            <a:normAutofit/>
          </a:bodyPr>
          <a:lstStyle/>
          <a:p>
            <a:r>
              <a:rPr lang="en-GB" sz="2000" dirty="0" err="1"/>
              <a:t>Mireia</a:t>
            </a:r>
            <a:r>
              <a:rPr lang="en-GB" sz="2000" dirty="0"/>
              <a:t> Montoya:</a:t>
            </a:r>
          </a:p>
          <a:p>
            <a:pPr lvl="1"/>
            <a:r>
              <a:rPr lang="en-GB" sz="2000" dirty="0"/>
              <a:t>Models (Baseline, </a:t>
            </a:r>
            <a:r>
              <a:rPr lang="en-GB" sz="2000" dirty="0" err="1"/>
              <a:t>AutoARIMA</a:t>
            </a:r>
            <a:r>
              <a:rPr lang="en-GB" sz="2000" dirty="0"/>
              <a:t>, </a:t>
            </a:r>
            <a:r>
              <a:rPr lang="en-GB" sz="2000" dirty="0" err="1"/>
              <a:t>MLForecast</a:t>
            </a:r>
            <a:r>
              <a:rPr lang="en-GB" sz="2000" dirty="0"/>
              <a:t>, </a:t>
            </a:r>
            <a:r>
              <a:rPr lang="en-GB" sz="2000" dirty="0" err="1"/>
              <a:t>NeuralForecast</a:t>
            </a:r>
            <a:r>
              <a:rPr lang="en-GB" sz="2000" dirty="0"/>
              <a:t>)</a:t>
            </a:r>
          </a:p>
          <a:p>
            <a:pPr lvl="1"/>
            <a:r>
              <a:rPr lang="en-GB" sz="2000" dirty="0"/>
              <a:t>Final forecasts export (Jan 2026 CSV/Parquet)</a:t>
            </a:r>
          </a:p>
          <a:p>
            <a:pPr lvl="1"/>
            <a:r>
              <a:rPr lang="en-GB" sz="2000" dirty="0"/>
              <a:t>Data </a:t>
            </a:r>
            <a:r>
              <a:rPr lang="en-GB" sz="2000" dirty="0" err="1"/>
              <a:t>exporation</a:t>
            </a:r>
            <a:r>
              <a:rPr lang="en-GB" sz="2000" dirty="0"/>
              <a:t> and  insights</a:t>
            </a:r>
          </a:p>
          <a:p>
            <a:pPr lvl="1"/>
            <a:r>
              <a:rPr lang="en-GB" sz="2000" dirty="0"/>
              <a:t>Results interpretation</a:t>
            </a:r>
          </a:p>
          <a:p>
            <a:pPr marL="457200" lvl="1" indent="0">
              <a:buNone/>
            </a:pP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21497757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2B97F24A-32CE-4C1C-A50D-3016B394DC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DCDD8E0-E6E6-5F10-E59D-A655409737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-315468"/>
            <a:ext cx="6486144" cy="17190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Business Problem</a:t>
            </a:r>
          </a:p>
        </p:txBody>
      </p:sp>
      <p:sp>
        <p:nvSpPr>
          <p:cNvPr id="23" name="sketch line">
            <a:extLst>
              <a:ext uri="{FF2B5EF4-FFF2-40B4-BE49-F238E27FC236}">
                <a16:creationId xmlns:a16="http://schemas.microsoft.com/office/drawing/2014/main" id="{CD8B4F24-440B-49E9-B85D-733523DC06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573756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28278E9-FDD9-5B7F-EF03-07B1DB6B5A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69373" y="2791968"/>
            <a:ext cx="3429000" cy="341071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400" b="1" dirty="0"/>
              <a:t>Problem: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400" dirty="0"/>
              <a:t>Electricity generation in Spain is highly variable due to weather conditions, demand fluctuations, and seasonal patterns. This variability introduces uncertainty in grid operation, generation planning, and energy market decisions.</a:t>
            </a:r>
          </a:p>
          <a:p>
            <a:r>
              <a:rPr lang="en-US" sz="1400" b="1" dirty="0"/>
              <a:t>Goal :</a:t>
            </a:r>
          </a:p>
          <a:p>
            <a:pPr indent="-228600">
              <a:buFont typeface="Arial" panose="020B0604020202020204" pitchFamily="34" charset="0"/>
              <a:buChar char="•"/>
            </a:pPr>
            <a:r>
              <a:rPr lang="en-US" sz="1400" dirty="0"/>
              <a:t>Forecast daily electricity generation by production technology for January 2026 to support better planning decisions, reduce operational risk, and minimize economic losses caused by unexpected changes in generation.</a:t>
            </a:r>
          </a:p>
        </p:txBody>
      </p:sp>
      <p:pic>
        <p:nvPicPr>
          <p:cNvPr id="8" name="Marcador de contenido 7">
            <a:extLst>
              <a:ext uri="{FF2B5EF4-FFF2-40B4-BE49-F238E27FC236}">
                <a16:creationId xmlns:a16="http://schemas.microsoft.com/office/drawing/2014/main" id="{83CB2FFE-C25E-D93D-25A2-0D1DD4F261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30005" y="2269678"/>
            <a:ext cx="7223737" cy="2976981"/>
          </a:xfrm>
        </p:spPr>
      </p:pic>
    </p:spTree>
    <p:extLst>
      <p:ext uri="{BB962C8B-B14F-4D97-AF65-F5344CB8AC3E}">
        <p14:creationId xmlns:p14="http://schemas.microsoft.com/office/powerpoint/2010/main" val="38340233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8">
            <a:extLst>
              <a:ext uri="{FF2B5EF4-FFF2-40B4-BE49-F238E27FC236}">
                <a16:creationId xmlns:a16="http://schemas.microsoft.com/office/drawing/2014/main" id="{7517A47C-B2E5-4B79-8061-D74B1311A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6" name="Freeform: Shape 10">
            <a:extLst>
              <a:ext uri="{FF2B5EF4-FFF2-40B4-BE49-F238E27FC236}">
                <a16:creationId xmlns:a16="http://schemas.microsoft.com/office/drawing/2014/main" id="{C505E780-2083-4CB5-A42A-5E0E2908EC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818889" cy="6858000"/>
          </a:xfrm>
          <a:custGeom>
            <a:avLst/>
            <a:gdLst>
              <a:gd name="connsiteX0" fmla="*/ 0 w 4818889"/>
              <a:gd name="connsiteY0" fmla="*/ 0 h 6858000"/>
              <a:gd name="connsiteX1" fmla="*/ 3605911 w 4818889"/>
              <a:gd name="connsiteY1" fmla="*/ 0 h 6858000"/>
              <a:gd name="connsiteX2" fmla="*/ 3668894 w 4818889"/>
              <a:gd name="connsiteY2" fmla="*/ 69271 h 6858000"/>
              <a:gd name="connsiteX3" fmla="*/ 4818889 w 4818889"/>
              <a:gd name="connsiteY3" fmla="*/ 3429000 h 6858000"/>
              <a:gd name="connsiteX4" fmla="*/ 3668894 w 4818889"/>
              <a:gd name="connsiteY4" fmla="*/ 6788730 h 6858000"/>
              <a:gd name="connsiteX5" fmla="*/ 3605911 w 4818889"/>
              <a:gd name="connsiteY5" fmla="*/ 6858000 h 6858000"/>
              <a:gd name="connsiteX6" fmla="*/ 0 w 481888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8889" h="6858000">
                <a:moveTo>
                  <a:pt x="0" y="0"/>
                </a:moveTo>
                <a:lnTo>
                  <a:pt x="3605911" y="0"/>
                </a:lnTo>
                <a:lnTo>
                  <a:pt x="3668894" y="69271"/>
                </a:lnTo>
                <a:cubicBezTo>
                  <a:pt x="4379420" y="929100"/>
                  <a:pt x="4818889" y="2116944"/>
                  <a:pt x="4818889" y="3429000"/>
                </a:cubicBezTo>
                <a:cubicBezTo>
                  <a:pt x="4818889" y="4741056"/>
                  <a:pt x="4379420" y="5928900"/>
                  <a:pt x="3668894" y="6788730"/>
                </a:cubicBezTo>
                <a:lnTo>
                  <a:pt x="3605911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3" name="Freeform: Shape 12">
            <a:extLst>
              <a:ext uri="{FF2B5EF4-FFF2-40B4-BE49-F238E27FC236}">
                <a16:creationId xmlns:a16="http://schemas.microsoft.com/office/drawing/2014/main" id="{D2C0AE1C-0118-41AE-8A10-7CDCBF10E9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4811477" cy="6858000"/>
          </a:xfrm>
          <a:custGeom>
            <a:avLst/>
            <a:gdLst>
              <a:gd name="connsiteX0" fmla="*/ 0 w 4811477"/>
              <a:gd name="connsiteY0" fmla="*/ 0 h 6858000"/>
              <a:gd name="connsiteX1" fmla="*/ 3598499 w 4811477"/>
              <a:gd name="connsiteY1" fmla="*/ 0 h 6858000"/>
              <a:gd name="connsiteX2" fmla="*/ 3661482 w 4811477"/>
              <a:gd name="connsiteY2" fmla="*/ 69271 h 6858000"/>
              <a:gd name="connsiteX3" fmla="*/ 4811477 w 4811477"/>
              <a:gd name="connsiteY3" fmla="*/ 3429000 h 6858000"/>
              <a:gd name="connsiteX4" fmla="*/ 3661482 w 4811477"/>
              <a:gd name="connsiteY4" fmla="*/ 6788730 h 6858000"/>
              <a:gd name="connsiteX5" fmla="*/ 3598499 w 4811477"/>
              <a:gd name="connsiteY5" fmla="*/ 6858000 h 6858000"/>
              <a:gd name="connsiteX6" fmla="*/ 0 w 481147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811477" h="6858000">
                <a:moveTo>
                  <a:pt x="0" y="0"/>
                </a:moveTo>
                <a:lnTo>
                  <a:pt x="3598499" y="0"/>
                </a:lnTo>
                <a:lnTo>
                  <a:pt x="3661482" y="69271"/>
                </a:lnTo>
                <a:cubicBezTo>
                  <a:pt x="4372008" y="929100"/>
                  <a:pt x="4811477" y="2116944"/>
                  <a:pt x="4811477" y="3429000"/>
                </a:cubicBezTo>
                <a:cubicBezTo>
                  <a:pt x="4811477" y="4741056"/>
                  <a:pt x="4372008" y="5928900"/>
                  <a:pt x="3661482" y="6788730"/>
                </a:cubicBezTo>
                <a:lnTo>
                  <a:pt x="3598499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8D2D2313-E4F2-A92B-B35C-585571590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1792" y="1161288"/>
            <a:ext cx="3602736" cy="4526280"/>
          </a:xfrm>
        </p:spPr>
        <p:txBody>
          <a:bodyPr>
            <a:normAutofit/>
          </a:bodyPr>
          <a:lstStyle/>
          <a:p>
            <a:r>
              <a:rPr lang="en-GB" sz="4000" b="1"/>
              <a:t>Value and Decisions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3EEC44-1BA3-44ED-81FC-A644B04B2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081528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17" name="Marcador de contenido 2">
            <a:extLst>
              <a:ext uri="{FF2B5EF4-FFF2-40B4-BE49-F238E27FC236}">
                <a16:creationId xmlns:a16="http://schemas.microsoft.com/office/drawing/2014/main" id="{A867465C-9475-9451-DE38-C5C79AFCFF2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47445401"/>
              </p:ext>
            </p:extLst>
          </p:nvPr>
        </p:nvGraphicFramePr>
        <p:xfrm>
          <a:off x="5303520" y="676656"/>
          <a:ext cx="6364224" cy="551383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24216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17BDD930-0E65-490A-9CE5-554C357C44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A912C67-99A1-4956-8F68-1846C21771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E6F519A-A1D2-CE19-3FA2-157643255E3B}"/>
              </a:ext>
            </a:extLst>
          </p:cNvPr>
          <p:cNvSpPr txBox="1"/>
          <p:nvPr/>
        </p:nvSpPr>
        <p:spPr>
          <a:xfrm>
            <a:off x="6840640" y="2388726"/>
            <a:ext cx="5029200" cy="32276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endParaRPr lang="en-US" dirty="0">
              <a:solidFill>
                <a:schemeClr val="tx2"/>
              </a:solidFill>
            </a:endParaRP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69E5994-073E-4708-B3E6-43BFED0CEB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-381784" y="4178643"/>
            <a:ext cx="3061444" cy="2297267"/>
            <a:chOff x="-305" y="-1"/>
            <a:chExt cx="3832880" cy="2876136"/>
          </a:xfrm>
        </p:grpSpPr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532F818D-9087-4691-AABA-465619A0C2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68B7668A-5C96-4FB9-BFA9-38094EB87F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F4F95BD-8661-4C45-94E3-CF3159BF4C8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E85BBF8A-E2FB-47F6-A60F-4FB855D505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D81D498-EAA8-40F3-8230-AE4DEDA38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flipH="1">
            <a:off x="8906190" y="0"/>
            <a:ext cx="3282247" cy="2837712"/>
            <a:chOff x="-305" y="-4155"/>
            <a:chExt cx="2514948" cy="2174333"/>
          </a:xfrm>
        </p:grpSpPr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262F2402-5879-41A3-ACEC-6D2811BA30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BBD41895-A230-4959-97BA-80F516383E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E670BD54-10A6-4092-9E32-647B2F870D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1C2B9A82-4826-4BF4-A16E-0B005FE761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aphicFrame>
        <p:nvGraphicFramePr>
          <p:cNvPr id="5" name="Marcador de contenido 4">
            <a:extLst>
              <a:ext uri="{FF2B5EF4-FFF2-40B4-BE49-F238E27FC236}">
                <a16:creationId xmlns:a16="http://schemas.microsoft.com/office/drawing/2014/main" id="{E2EC0749-63FE-D9AA-80BA-9E478FEE1219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586615231"/>
              </p:ext>
            </p:extLst>
          </p:nvPr>
        </p:nvGraphicFramePr>
        <p:xfrm>
          <a:off x="3411423" y="1711674"/>
          <a:ext cx="5411150" cy="4110865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1344593">
                  <a:extLst>
                    <a:ext uri="{9D8B030D-6E8A-4147-A177-3AD203B41FA5}">
                      <a16:colId xmlns:a16="http://schemas.microsoft.com/office/drawing/2014/main" val="2064073013"/>
                    </a:ext>
                  </a:extLst>
                </a:gridCol>
                <a:gridCol w="4066557">
                  <a:extLst>
                    <a:ext uri="{9D8B030D-6E8A-4147-A177-3AD203B41FA5}">
                      <a16:colId xmlns:a16="http://schemas.microsoft.com/office/drawing/2014/main" val="2794407617"/>
                    </a:ext>
                  </a:extLst>
                </a:gridCol>
              </a:tblGrid>
              <a:tr h="925753">
                <a:tc>
                  <a:txBody>
                    <a:bodyPr/>
                    <a:lstStyle/>
                    <a:p>
                      <a:r>
                        <a:rPr lang="es-ES" sz="2300" b="1" cap="none" spc="0" dirty="0" err="1">
                          <a:solidFill>
                            <a:schemeClr val="bg1"/>
                          </a:solidFill>
                        </a:rPr>
                        <a:t>Item</a:t>
                      </a:r>
                      <a:endParaRPr lang="es-ES" sz="2300" b="1" cap="none" spc="0" dirty="0">
                        <a:solidFill>
                          <a:schemeClr val="bg1"/>
                        </a:solidFill>
                      </a:endParaRPr>
                    </a:p>
                  </a:txBody>
                  <a:tcPr marL="93444" marR="167839" marT="26698" marB="200238" anchor="b"/>
                </a:tc>
                <a:tc>
                  <a:txBody>
                    <a:bodyPr/>
                    <a:lstStyle/>
                    <a:p>
                      <a:r>
                        <a:rPr lang="es-ES" sz="2300" b="1" cap="none" spc="0" dirty="0" err="1">
                          <a:solidFill>
                            <a:schemeClr val="bg1"/>
                          </a:solidFill>
                        </a:rPr>
                        <a:t>Value</a:t>
                      </a:r>
                      <a:endParaRPr lang="es-ES" sz="2300" b="1" cap="none" spc="0" dirty="0">
                        <a:solidFill>
                          <a:schemeClr val="bg1"/>
                        </a:solidFill>
                      </a:endParaRPr>
                    </a:p>
                  </a:txBody>
                  <a:tcPr marL="93444" marR="167839" marT="26698" marB="200238" anchor="b"/>
                </a:tc>
                <a:extLst>
                  <a:ext uri="{0D108BD9-81ED-4DB2-BD59-A6C34878D82A}">
                    <a16:rowId xmlns:a16="http://schemas.microsoft.com/office/drawing/2014/main" val="2330774266"/>
                  </a:ext>
                </a:extLst>
              </a:tr>
              <a:tr h="796278">
                <a:tc>
                  <a:txBody>
                    <a:bodyPr/>
                    <a:lstStyle/>
                    <a:p>
                      <a:r>
                        <a:rPr lang="es-ES" sz="1800" cap="none" spc="0" dirty="0" err="1">
                          <a:solidFill>
                            <a:schemeClr val="tx1"/>
                          </a:solidFill>
                        </a:rPr>
                        <a:t>Source</a:t>
                      </a:r>
                      <a:endParaRPr lang="es-ES" sz="1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93444" marR="167839" marT="26698" marB="200238"/>
                </a:tc>
                <a:tc>
                  <a:txBody>
                    <a:bodyPr/>
                    <a:lstStyle/>
                    <a:p>
                      <a:r>
                        <a:rPr lang="es-ES" sz="1800" cap="none" spc="0" dirty="0" err="1">
                          <a:solidFill>
                            <a:schemeClr val="tx1"/>
                          </a:solidFill>
                        </a:rPr>
                        <a:t>Spanish</a:t>
                      </a:r>
                      <a:r>
                        <a:rPr lang="es-ES" sz="18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s-ES" sz="1800" cap="none" spc="0" dirty="0" err="1">
                          <a:solidFill>
                            <a:schemeClr val="tx1"/>
                          </a:solidFill>
                        </a:rPr>
                        <a:t>Electic</a:t>
                      </a:r>
                      <a:r>
                        <a:rPr lang="es-ES" sz="1800" cap="none" spc="0" dirty="0">
                          <a:solidFill>
                            <a:schemeClr val="tx1"/>
                          </a:solidFill>
                        </a:rPr>
                        <a:t> Network (REE)</a:t>
                      </a:r>
                    </a:p>
                  </a:txBody>
                  <a:tcPr marL="93444" marR="167839" marT="26698" marB="200238"/>
                </a:tc>
                <a:extLst>
                  <a:ext uri="{0D108BD9-81ED-4DB2-BD59-A6C34878D82A}">
                    <a16:rowId xmlns:a16="http://schemas.microsoft.com/office/drawing/2014/main" val="2368188542"/>
                  </a:ext>
                </a:extLst>
              </a:tr>
              <a:tr h="796278">
                <a:tc>
                  <a:txBody>
                    <a:bodyPr/>
                    <a:lstStyle/>
                    <a:p>
                      <a:r>
                        <a:rPr lang="es-ES" sz="1800" cap="none" spc="0" err="1">
                          <a:solidFill>
                            <a:schemeClr val="tx1"/>
                          </a:solidFill>
                        </a:rPr>
                        <a:t>Frequency</a:t>
                      </a:r>
                      <a:endParaRPr lang="es-E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93444" marR="167839" marT="26698" marB="200238"/>
                </a:tc>
                <a:tc>
                  <a:txBody>
                    <a:bodyPr/>
                    <a:lstStyle/>
                    <a:p>
                      <a:r>
                        <a:rPr lang="es-ES" sz="1800" cap="none" spc="0" err="1">
                          <a:solidFill>
                            <a:schemeClr val="tx1"/>
                          </a:solidFill>
                        </a:rPr>
                        <a:t>Daily</a:t>
                      </a:r>
                      <a:endParaRPr lang="es-ES" sz="1800" cap="none" spc="0">
                        <a:solidFill>
                          <a:schemeClr val="tx1"/>
                        </a:solidFill>
                      </a:endParaRPr>
                    </a:p>
                  </a:txBody>
                  <a:tcPr marL="93444" marR="167839" marT="26698" marB="200238"/>
                </a:tc>
                <a:extLst>
                  <a:ext uri="{0D108BD9-81ED-4DB2-BD59-A6C34878D82A}">
                    <a16:rowId xmlns:a16="http://schemas.microsoft.com/office/drawing/2014/main" val="3077669828"/>
                  </a:ext>
                </a:extLst>
              </a:tr>
              <a:tr h="796278">
                <a:tc>
                  <a:txBody>
                    <a:bodyPr/>
                    <a:lstStyle/>
                    <a:p>
                      <a:r>
                        <a:rPr lang="es-ES" sz="1800" cap="none" spc="0">
                          <a:solidFill>
                            <a:schemeClr val="tx1"/>
                          </a:solidFill>
                        </a:rPr>
                        <a:t>Target</a:t>
                      </a:r>
                    </a:p>
                  </a:txBody>
                  <a:tcPr marL="93444" marR="167839" marT="26698" marB="200238"/>
                </a:tc>
                <a:tc>
                  <a:txBody>
                    <a:bodyPr/>
                    <a:lstStyle/>
                    <a:p>
                      <a:r>
                        <a:rPr lang="es-ES" sz="1800" cap="none" spc="0" dirty="0" err="1">
                          <a:solidFill>
                            <a:schemeClr val="tx1"/>
                          </a:solidFill>
                        </a:rPr>
                        <a:t>Electricity</a:t>
                      </a:r>
                      <a:r>
                        <a:rPr lang="es-ES" sz="180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s-ES" sz="1800" cap="none" spc="0" dirty="0" err="1">
                          <a:solidFill>
                            <a:schemeClr val="tx1"/>
                          </a:solidFill>
                        </a:rPr>
                        <a:t>Generation</a:t>
                      </a:r>
                      <a:r>
                        <a:rPr lang="es-ES" sz="1800" cap="none" spc="0" dirty="0">
                          <a:solidFill>
                            <a:schemeClr val="tx1"/>
                          </a:solidFill>
                        </a:rPr>
                        <a:t> (GWh)</a:t>
                      </a:r>
                    </a:p>
                  </a:txBody>
                  <a:tcPr marL="93444" marR="167839" marT="26698" marB="200238"/>
                </a:tc>
                <a:extLst>
                  <a:ext uri="{0D108BD9-81ED-4DB2-BD59-A6C34878D82A}">
                    <a16:rowId xmlns:a16="http://schemas.microsoft.com/office/drawing/2014/main" val="3147640588"/>
                  </a:ext>
                </a:extLst>
              </a:tr>
              <a:tr h="796278">
                <a:tc>
                  <a:txBody>
                    <a:bodyPr/>
                    <a:lstStyle/>
                    <a:p>
                      <a:r>
                        <a:rPr lang="es-ES" sz="1800" cap="none" spc="0" dirty="0">
                          <a:solidFill>
                            <a:schemeClr val="tx1"/>
                          </a:solidFill>
                        </a:rPr>
                        <a:t>Date </a:t>
                      </a:r>
                      <a:r>
                        <a:rPr lang="es-ES" sz="1800" cap="none" spc="0" dirty="0" err="1">
                          <a:solidFill>
                            <a:schemeClr val="tx1"/>
                          </a:solidFill>
                        </a:rPr>
                        <a:t>range</a:t>
                      </a:r>
                      <a:endParaRPr lang="es-ES" sz="1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93444" marR="167839" marT="26698" marB="200238"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  <a:sym typeface="Wingdings" panose="05000000000000000000" pitchFamily="2" charset="2"/>
                        </a:rPr>
                        <a:t>01/01/2018 – 31/12/2025</a:t>
                      </a:r>
                      <a:endParaRPr lang="es-ES" sz="180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93444" marR="167839" marT="26698" marB="200238"/>
                </a:tc>
                <a:extLst>
                  <a:ext uri="{0D108BD9-81ED-4DB2-BD59-A6C34878D82A}">
                    <a16:rowId xmlns:a16="http://schemas.microsoft.com/office/drawing/2014/main" val="4053749309"/>
                  </a:ext>
                </a:extLst>
              </a:tr>
            </a:tbl>
          </a:graphicData>
        </a:graphic>
      </p:graphicFrame>
      <p:sp>
        <p:nvSpPr>
          <p:cNvPr id="7" name="Título 1">
            <a:extLst>
              <a:ext uri="{FF2B5EF4-FFF2-40B4-BE49-F238E27FC236}">
                <a16:creationId xmlns:a16="http://schemas.microsoft.com/office/drawing/2014/main" id="{76D4DD08-55A3-67F6-8233-C4992EE32B05}"/>
              </a:ext>
            </a:extLst>
          </p:cNvPr>
          <p:cNvSpPr txBox="1">
            <a:spLocks/>
          </p:cNvSpPr>
          <p:nvPr/>
        </p:nvSpPr>
        <p:spPr>
          <a:xfrm>
            <a:off x="838200" y="698643"/>
            <a:ext cx="5243394" cy="22255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5600" b="1" dirty="0"/>
              <a:t>DATASET INFO</a:t>
            </a:r>
          </a:p>
        </p:txBody>
      </p:sp>
    </p:spTree>
    <p:extLst>
      <p:ext uri="{BB962C8B-B14F-4D97-AF65-F5344CB8AC3E}">
        <p14:creationId xmlns:p14="http://schemas.microsoft.com/office/powerpoint/2010/main" val="28525783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8D1AA55E-40D5-461B-A5A8-4AE8AAB71B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FF1177D2-3E1F-938E-9617-1D4031D071B1}"/>
              </a:ext>
            </a:extLst>
          </p:cNvPr>
          <p:cNvSpPr txBox="1">
            <a:spLocks/>
          </p:cNvSpPr>
          <p:nvPr/>
        </p:nvSpPr>
        <p:spPr>
          <a:xfrm>
            <a:off x="838200" y="698643"/>
            <a:ext cx="5243394" cy="222553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en-US" sz="5600" b="1" dirty="0"/>
              <a:t>DATASET INFO</a:t>
            </a:r>
          </a:p>
        </p:txBody>
      </p:sp>
      <p:cxnSp>
        <p:nvCxnSpPr>
          <p:cNvPr id="2057" name="Straight Connector 2056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23622" y="381934"/>
            <a:ext cx="0" cy="6476066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59" name="Group 2058">
            <a:extLst>
              <a:ext uri="{FF2B5EF4-FFF2-40B4-BE49-F238E27FC236}">
                <a16:creationId xmlns:a16="http://schemas.microsoft.com/office/drawing/2014/main" id="{0FE0E4CA-04FD-4712-9979-0D4FACCA60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10408" y="740316"/>
            <a:ext cx="465458" cy="872153"/>
            <a:chOff x="6110408" y="740316"/>
            <a:chExt cx="465458" cy="872153"/>
          </a:xfrm>
        </p:grpSpPr>
        <p:sp>
          <p:nvSpPr>
            <p:cNvPr id="2060" name="Graphic 11">
              <a:extLst>
                <a:ext uri="{FF2B5EF4-FFF2-40B4-BE49-F238E27FC236}">
                  <a16:creationId xmlns:a16="http://schemas.microsoft.com/office/drawing/2014/main" id="{6CB927A4-E432-4310-9CD5-E89FF50631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25948" y="740316"/>
              <a:ext cx="139039" cy="139039"/>
            </a:xfrm>
            <a:custGeom>
              <a:avLst/>
              <a:gdLst>
                <a:gd name="connsiteX0" fmla="*/ 129602 w 139039"/>
                <a:gd name="connsiteY0" fmla="*/ 60082 h 139039"/>
                <a:gd name="connsiteX1" fmla="*/ 78957 w 139039"/>
                <a:gd name="connsiteY1" fmla="*/ 60082 h 139039"/>
                <a:gd name="connsiteX2" fmla="*/ 78957 w 139039"/>
                <a:gd name="connsiteY2" fmla="*/ 9437 h 139039"/>
                <a:gd name="connsiteX3" fmla="*/ 69520 w 139039"/>
                <a:gd name="connsiteY3" fmla="*/ 0 h 139039"/>
                <a:gd name="connsiteX4" fmla="*/ 60082 w 139039"/>
                <a:gd name="connsiteY4" fmla="*/ 9437 h 139039"/>
                <a:gd name="connsiteX5" fmla="*/ 60082 w 139039"/>
                <a:gd name="connsiteY5" fmla="*/ 60082 h 139039"/>
                <a:gd name="connsiteX6" fmla="*/ 9437 w 139039"/>
                <a:gd name="connsiteY6" fmla="*/ 60082 h 139039"/>
                <a:gd name="connsiteX7" fmla="*/ 0 w 139039"/>
                <a:gd name="connsiteY7" fmla="*/ 69520 h 139039"/>
                <a:gd name="connsiteX8" fmla="*/ 9437 w 139039"/>
                <a:gd name="connsiteY8" fmla="*/ 78957 h 139039"/>
                <a:gd name="connsiteX9" fmla="*/ 60082 w 139039"/>
                <a:gd name="connsiteY9" fmla="*/ 78957 h 139039"/>
                <a:gd name="connsiteX10" fmla="*/ 60082 w 139039"/>
                <a:gd name="connsiteY10" fmla="*/ 129602 h 139039"/>
                <a:gd name="connsiteX11" fmla="*/ 69520 w 139039"/>
                <a:gd name="connsiteY11" fmla="*/ 139039 h 139039"/>
                <a:gd name="connsiteX12" fmla="*/ 78957 w 139039"/>
                <a:gd name="connsiteY12" fmla="*/ 129602 h 139039"/>
                <a:gd name="connsiteX13" fmla="*/ 78957 w 139039"/>
                <a:gd name="connsiteY13" fmla="*/ 78957 h 139039"/>
                <a:gd name="connsiteX14" fmla="*/ 129602 w 139039"/>
                <a:gd name="connsiteY14" fmla="*/ 78957 h 139039"/>
                <a:gd name="connsiteX15" fmla="*/ 139039 w 139039"/>
                <a:gd name="connsiteY15" fmla="*/ 69520 h 139039"/>
                <a:gd name="connsiteX16" fmla="*/ 129602 w 139039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9" h="139039">
                  <a:moveTo>
                    <a:pt x="129602" y="60082"/>
                  </a:moveTo>
                  <a:lnTo>
                    <a:pt x="78957" y="60082"/>
                  </a:lnTo>
                  <a:lnTo>
                    <a:pt x="78957" y="9437"/>
                  </a:lnTo>
                  <a:cubicBezTo>
                    <a:pt x="78957" y="4225"/>
                    <a:pt x="74731" y="0"/>
                    <a:pt x="69520" y="0"/>
                  </a:cubicBezTo>
                  <a:cubicBezTo>
                    <a:pt x="64308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8" y="139039"/>
                    <a:pt x="69520" y="139039"/>
                  </a:cubicBezTo>
                  <a:cubicBezTo>
                    <a:pt x="74731" y="139039"/>
                    <a:pt x="78957" y="134814"/>
                    <a:pt x="78957" y="129602"/>
                  </a:cubicBezTo>
                  <a:lnTo>
                    <a:pt x="78957" y="78957"/>
                  </a:lnTo>
                  <a:lnTo>
                    <a:pt x="129602" y="78957"/>
                  </a:lnTo>
                  <a:cubicBezTo>
                    <a:pt x="134814" y="78957"/>
                    <a:pt x="139039" y="74731"/>
                    <a:pt x="139039" y="69520"/>
                  </a:cubicBezTo>
                  <a:cubicBezTo>
                    <a:pt x="139039" y="64308"/>
                    <a:pt x="134814" y="60082"/>
                    <a:pt x="129602" y="60082"/>
                  </a:cubicBezTo>
                  <a:close/>
                </a:path>
              </a:pathLst>
            </a:custGeom>
            <a:solidFill>
              <a:schemeClr val="accent2"/>
            </a:solidFill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1" name="Graphic 10">
              <a:extLst>
                <a:ext uri="{FF2B5EF4-FFF2-40B4-BE49-F238E27FC236}">
                  <a16:creationId xmlns:a16="http://schemas.microsoft.com/office/drawing/2014/main" id="{E3020543-B24B-4EC4-8FFC-8DD88EEA91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484728" y="969611"/>
              <a:ext cx="91138" cy="91138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2"/>
            </a:solidFill>
            <a:ln w="4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62" name="Graphic 12">
              <a:extLst>
                <a:ext uri="{FF2B5EF4-FFF2-40B4-BE49-F238E27FC236}">
                  <a16:creationId xmlns:a16="http://schemas.microsoft.com/office/drawing/2014/main" id="{1453BF6C-B012-48B7-B4E8-6D7AC7C27D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10408" y="1484755"/>
              <a:ext cx="127714" cy="127714"/>
            </a:xfrm>
            <a:custGeom>
              <a:avLst/>
              <a:gdLst>
                <a:gd name="connsiteX0" fmla="*/ 63857 w 127714"/>
                <a:gd name="connsiteY0" fmla="*/ 18874 h 127714"/>
                <a:gd name="connsiteX1" fmla="*/ 108840 w 127714"/>
                <a:gd name="connsiteY1" fmla="*/ 63857 h 127714"/>
                <a:gd name="connsiteX2" fmla="*/ 63857 w 127714"/>
                <a:gd name="connsiteY2" fmla="*/ 108840 h 127714"/>
                <a:gd name="connsiteX3" fmla="*/ 18874 w 127714"/>
                <a:gd name="connsiteY3" fmla="*/ 63857 h 127714"/>
                <a:gd name="connsiteX4" fmla="*/ 63857 w 127714"/>
                <a:gd name="connsiteY4" fmla="*/ 18874 h 127714"/>
                <a:gd name="connsiteX5" fmla="*/ 63857 w 127714"/>
                <a:gd name="connsiteY5" fmla="*/ 0 h 127714"/>
                <a:gd name="connsiteX6" fmla="*/ 0 w 127714"/>
                <a:gd name="connsiteY6" fmla="*/ 63857 h 127714"/>
                <a:gd name="connsiteX7" fmla="*/ 63857 w 127714"/>
                <a:gd name="connsiteY7" fmla="*/ 127714 h 127714"/>
                <a:gd name="connsiteX8" fmla="*/ 127714 w 127714"/>
                <a:gd name="connsiteY8" fmla="*/ 63857 h 127714"/>
                <a:gd name="connsiteX9" fmla="*/ 63857 w 127714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4" h="127714">
                  <a:moveTo>
                    <a:pt x="63857" y="18874"/>
                  </a:moveTo>
                  <a:cubicBezTo>
                    <a:pt x="88700" y="18874"/>
                    <a:pt x="108840" y="39014"/>
                    <a:pt x="108840" y="63857"/>
                  </a:cubicBezTo>
                  <a:cubicBezTo>
                    <a:pt x="108840" y="88700"/>
                    <a:pt x="88700" y="108840"/>
                    <a:pt x="63857" y="108840"/>
                  </a:cubicBezTo>
                  <a:cubicBezTo>
                    <a:pt x="39014" y="108840"/>
                    <a:pt x="18874" y="88700"/>
                    <a:pt x="18874" y="63857"/>
                  </a:cubicBezTo>
                  <a:cubicBezTo>
                    <a:pt x="18898" y="39024"/>
                    <a:pt x="39024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4" y="99124"/>
                    <a:pt x="127714" y="63857"/>
                  </a:cubicBezTo>
                  <a:cubicBezTo>
                    <a:pt x="127714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2"/>
            </a:solidFill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2050" name="Picture 2" descr="Imágenes de Energía Nuclear | Descarga imágenes gratuitas en Unsplash">
            <a:extLst>
              <a:ext uri="{FF2B5EF4-FFF2-40B4-BE49-F238E27FC236}">
                <a16:creationId xmlns:a16="http://schemas.microsoft.com/office/drawing/2014/main" id="{681B0DB7-93BF-26FB-A103-87C789E1BF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521"/>
          <a:stretch>
            <a:fillRect/>
          </a:stretch>
        </p:blipFill>
        <p:spPr bwMode="auto">
          <a:xfrm>
            <a:off x="838200" y="3003053"/>
            <a:ext cx="5243391" cy="2994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64" name="Rectangle 2063">
            <a:extLst>
              <a:ext uri="{FF2B5EF4-FFF2-40B4-BE49-F238E27FC236}">
                <a16:creationId xmlns:a16="http://schemas.microsoft.com/office/drawing/2014/main" id="{2CA8D992-BB3F-47CD-BA18-71D5453920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38200" y="3000055"/>
            <a:ext cx="5243390" cy="2997970"/>
          </a:xfrm>
          <a:prstGeom prst="rect">
            <a:avLst/>
          </a:prstGeom>
          <a:gradFill flip="none" rotWithShape="1">
            <a:gsLst>
              <a:gs pos="100000">
                <a:schemeClr val="accent2">
                  <a:alpha val="20000"/>
                </a:schemeClr>
              </a:gs>
              <a:gs pos="0">
                <a:schemeClr val="accent1">
                  <a:alpha val="2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ED33C6C-B751-DC3B-71E1-DB4E433CAC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229042" y="879355"/>
            <a:ext cx="4124758" cy="512075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en-US" sz="2000" b="1" dirty="0">
                <a:solidFill>
                  <a:schemeClr val="tx1">
                    <a:alpha val="80000"/>
                  </a:schemeClr>
                </a:solidFill>
              </a:rPr>
              <a:t>Advert!!!: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As the dataset is from Spain, the features are written in Spanish. Translation: </a:t>
            </a:r>
          </a:p>
          <a:p>
            <a:r>
              <a:rPr lang="en-US" sz="2000" b="1" dirty="0" err="1">
                <a:solidFill>
                  <a:schemeClr val="tx1">
                    <a:alpha val="80000"/>
                  </a:schemeClr>
                </a:solidFill>
              </a:rPr>
              <a:t>Carbón</a:t>
            </a:r>
            <a:r>
              <a:rPr lang="en-US" sz="2000" b="1" dirty="0">
                <a:solidFill>
                  <a:schemeClr val="tx1">
                    <a:alpha val="80000"/>
                  </a:schemeClr>
                </a:solidFill>
              </a:rPr>
              <a:t>: 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coal</a:t>
            </a:r>
          </a:p>
          <a:p>
            <a:r>
              <a:rPr lang="en-US" sz="2000" b="1" dirty="0">
                <a:solidFill>
                  <a:schemeClr val="tx1">
                    <a:alpha val="80000"/>
                  </a:schemeClr>
                </a:solidFill>
              </a:rPr>
              <a:t>Ciclo </a:t>
            </a:r>
            <a:r>
              <a:rPr lang="en-US" sz="2000" b="1" dirty="0" err="1">
                <a:solidFill>
                  <a:schemeClr val="tx1">
                    <a:alpha val="80000"/>
                  </a:schemeClr>
                </a:solidFill>
              </a:rPr>
              <a:t>combinado</a:t>
            </a:r>
            <a:r>
              <a:rPr lang="en-US" sz="2000" b="1" dirty="0">
                <a:solidFill>
                  <a:schemeClr val="tx1">
                    <a:alpha val="80000"/>
                  </a:schemeClr>
                </a:solidFill>
              </a:rPr>
              <a:t>: 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combined cycle</a:t>
            </a:r>
            <a:endParaRPr lang="en-US" sz="2000" b="1" dirty="0">
              <a:solidFill>
                <a:schemeClr val="tx1">
                  <a:alpha val="80000"/>
                </a:schemeClr>
              </a:solidFill>
            </a:endParaRPr>
          </a:p>
          <a:p>
            <a:r>
              <a:rPr lang="en-US" sz="2000" b="1" dirty="0" err="1">
                <a:solidFill>
                  <a:schemeClr val="tx1">
                    <a:alpha val="80000"/>
                  </a:schemeClr>
                </a:solidFill>
              </a:rPr>
              <a:t>Cogeneración</a:t>
            </a:r>
            <a:r>
              <a:rPr lang="en-US" sz="2000" b="1" dirty="0">
                <a:solidFill>
                  <a:schemeClr val="tx1">
                    <a:alpha val="80000"/>
                  </a:schemeClr>
                </a:solidFill>
              </a:rPr>
              <a:t>: 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cogeneration</a:t>
            </a:r>
            <a:endParaRPr lang="en-US" sz="2000" b="1" dirty="0">
              <a:solidFill>
                <a:schemeClr val="tx1">
                  <a:alpha val="80000"/>
                </a:schemeClr>
              </a:solidFill>
            </a:endParaRPr>
          </a:p>
          <a:p>
            <a:r>
              <a:rPr lang="en-US" sz="2000" b="1" dirty="0" err="1">
                <a:solidFill>
                  <a:schemeClr val="tx1">
                    <a:alpha val="80000"/>
                  </a:schemeClr>
                </a:solidFill>
              </a:rPr>
              <a:t>Eólica</a:t>
            </a:r>
            <a:r>
              <a:rPr lang="en-US" sz="2000" b="1" dirty="0">
                <a:solidFill>
                  <a:schemeClr val="tx1">
                    <a:alpha val="80000"/>
                  </a:schemeClr>
                </a:solidFill>
              </a:rPr>
              <a:t>: 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Eolic</a:t>
            </a:r>
            <a:endParaRPr lang="en-US" sz="2000" b="1" dirty="0">
              <a:solidFill>
                <a:schemeClr val="tx1">
                  <a:alpha val="80000"/>
                </a:schemeClr>
              </a:solidFill>
            </a:endParaRPr>
          </a:p>
          <a:p>
            <a:r>
              <a:rPr lang="en-US" sz="2000" b="1" dirty="0" err="1">
                <a:solidFill>
                  <a:schemeClr val="tx1">
                    <a:alpha val="80000"/>
                  </a:schemeClr>
                </a:solidFill>
              </a:rPr>
              <a:t>Hidráulica</a:t>
            </a:r>
            <a:r>
              <a:rPr lang="en-US" sz="2000" b="1" dirty="0">
                <a:solidFill>
                  <a:schemeClr val="tx1">
                    <a:alpha val="80000"/>
                  </a:schemeClr>
                </a:solidFill>
              </a:rPr>
              <a:t>: </a:t>
            </a: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Hidraulic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 </a:t>
            </a:r>
            <a:endParaRPr lang="en-US" sz="2000" b="1" dirty="0">
              <a:solidFill>
                <a:schemeClr val="tx1">
                  <a:alpha val="80000"/>
                </a:schemeClr>
              </a:solidFill>
            </a:endParaRPr>
          </a:p>
          <a:p>
            <a:r>
              <a:rPr lang="en-US" sz="2000" b="1" dirty="0">
                <a:solidFill>
                  <a:schemeClr val="tx1">
                    <a:alpha val="80000"/>
                  </a:schemeClr>
                </a:solidFill>
              </a:rPr>
              <a:t>Nuclear: 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nuclear </a:t>
            </a:r>
            <a:endParaRPr lang="en-US" sz="2000" b="1" dirty="0">
              <a:solidFill>
                <a:schemeClr val="tx1">
                  <a:alpha val="80000"/>
                </a:schemeClr>
              </a:solidFill>
            </a:endParaRPr>
          </a:p>
          <a:p>
            <a:r>
              <a:rPr lang="en-US" sz="2000" b="1" dirty="0" err="1">
                <a:solidFill>
                  <a:schemeClr val="tx1">
                    <a:alpha val="80000"/>
                  </a:schemeClr>
                </a:solidFill>
              </a:rPr>
              <a:t>Solear</a:t>
            </a:r>
            <a:r>
              <a:rPr lang="en-US" sz="2000" b="1" dirty="0">
                <a:solidFill>
                  <a:schemeClr val="tx1">
                    <a:alpha val="80000"/>
                  </a:schemeClr>
                </a:solidFill>
              </a:rPr>
              <a:t> </a:t>
            </a:r>
            <a:r>
              <a:rPr lang="en-US" sz="2000" b="1" dirty="0" err="1">
                <a:solidFill>
                  <a:schemeClr val="tx1">
                    <a:alpha val="80000"/>
                  </a:schemeClr>
                </a:solidFill>
              </a:rPr>
              <a:t>fotovoltaica</a:t>
            </a:r>
            <a:r>
              <a:rPr lang="en-US" sz="2000" b="1" dirty="0">
                <a:solidFill>
                  <a:schemeClr val="tx1">
                    <a:alpha val="80000"/>
                  </a:schemeClr>
                </a:solidFill>
              </a:rPr>
              <a:t>: 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Solar Photovoltaics </a:t>
            </a:r>
            <a:endParaRPr lang="en-US" sz="2000" b="1" dirty="0">
              <a:solidFill>
                <a:schemeClr val="tx1">
                  <a:alpha val="80000"/>
                </a:schemeClr>
              </a:solidFill>
            </a:endParaRPr>
          </a:p>
          <a:p>
            <a:pPr marL="0"/>
            <a:endParaRPr lang="en-US" sz="2000" dirty="0">
              <a:solidFill>
                <a:schemeClr val="tx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97882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350D3-30BF-6837-F2FB-FBDB6602E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Solution Overview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77DD94E-7F8E-0585-321E-7099CABCFE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514350" indent="-514350">
              <a:buAutoNum type="arabicPeriod"/>
            </a:pPr>
            <a:r>
              <a:rPr lang="en-GB" b="1" dirty="0"/>
              <a:t>Business goal: </a:t>
            </a:r>
            <a:r>
              <a:rPr lang="en-GB" dirty="0"/>
              <a:t>forecast daily electricity generation (Top-7 technologies).</a:t>
            </a:r>
          </a:p>
          <a:p>
            <a:pPr marL="514350" indent="-514350">
              <a:buAutoNum type="arabicPeriod"/>
            </a:pPr>
            <a:r>
              <a:rPr lang="en-GB" b="1" dirty="0"/>
              <a:t>Data preparation: </a:t>
            </a:r>
            <a:r>
              <a:rPr lang="en-GB" dirty="0"/>
              <a:t>clean panel data, full daily grid, missing values handled </a:t>
            </a:r>
          </a:p>
          <a:p>
            <a:pPr marL="514350" indent="-514350">
              <a:buAutoNum type="arabicPeriod"/>
            </a:pPr>
            <a:r>
              <a:rPr lang="en-GB" b="1" dirty="0"/>
              <a:t>Feature engineering: </a:t>
            </a:r>
            <a:r>
              <a:rPr lang="en-GB" dirty="0"/>
              <a:t>lags, calendar features and rolling statistics. </a:t>
            </a:r>
            <a:endParaRPr lang="en-GB" b="1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199A925-090D-C224-5A0C-26518CA594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4. Modelling: </a:t>
            </a:r>
            <a:r>
              <a:rPr lang="en-GB" dirty="0"/>
              <a:t>baselines, statistical (ARIMA), ML and neural models.</a:t>
            </a:r>
          </a:p>
          <a:p>
            <a:pPr marL="0" indent="0">
              <a:buNone/>
            </a:pPr>
            <a:r>
              <a:rPr lang="en-GB" b="1" dirty="0"/>
              <a:t>5. Evaluation: </a:t>
            </a:r>
            <a:r>
              <a:rPr lang="en-GB" dirty="0"/>
              <a:t>time-based Train/Val/Test split (last 31 + 31 days) with error metrics. </a:t>
            </a:r>
          </a:p>
          <a:p>
            <a:pPr marL="0" indent="0">
              <a:buNone/>
            </a:pPr>
            <a:r>
              <a:rPr lang="en-GB" b="1" dirty="0"/>
              <a:t>6. Output: </a:t>
            </a:r>
            <a:r>
              <a:rPr lang="en-GB" dirty="0"/>
              <a:t>January 2026 forecast with uncertainty intervals and saved results. 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34108910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AF1966E-FD40-4A4A-B61B-C4DF7FA05F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47BFA19-D45E-416B-A404-7AF2F3F270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58209" y="0"/>
            <a:ext cx="11167447" cy="2018806"/>
          </a:xfrm>
          <a:prstGeom prst="rect">
            <a:avLst/>
          </a:prstGeom>
          <a:ln w="9525">
            <a:solidFill>
              <a:srgbClr val="E1E1E1"/>
            </a:solidFill>
          </a:ln>
          <a:effectLst>
            <a:outerShdw blurRad="50800" dist="38100" dir="2700000" algn="t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E0105E7-23DB-4CF2-8258-FF47C7620F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6928" y="0"/>
            <a:ext cx="11155680" cy="2011680"/>
          </a:xfrm>
          <a:prstGeom prst="rect">
            <a:avLst/>
          </a:pr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E0FAAFF-BAF5-FF57-1147-C6FB2D1C4B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5568" y="548640"/>
            <a:ext cx="10168128" cy="1179576"/>
          </a:xfrm>
        </p:spPr>
        <p:txBody>
          <a:bodyPr>
            <a:normAutofit/>
          </a:bodyPr>
          <a:lstStyle/>
          <a:p>
            <a:r>
              <a:rPr lang="en-GB" sz="4000" b="1"/>
              <a:t>Data Engineering. 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74B4F7D-14B2-478B-8BF5-01E4E0C5D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98834" y="758952"/>
            <a:ext cx="128016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46C0B3E-617B-5959-6456-9D7C08B649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5568" y="2481943"/>
            <a:ext cx="10168128" cy="36950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2000" b="1" dirty="0"/>
              <a:t>From raw REE files to a clean daily panel dataset</a:t>
            </a:r>
          </a:p>
          <a:p>
            <a:pPr marL="514350" indent="-514350">
              <a:buAutoNum type="arabicPeriod"/>
            </a:pPr>
            <a:r>
              <a:rPr lang="en-GB" sz="2000" dirty="0"/>
              <a:t>Input: multiple yearly CSV exports (wide format)</a:t>
            </a:r>
          </a:p>
          <a:p>
            <a:pPr marL="514350" indent="-514350">
              <a:buAutoNum type="arabicPeriod"/>
            </a:pPr>
            <a:r>
              <a:rPr lang="en-GB" sz="2000" dirty="0"/>
              <a:t>We convert to long format: (</a:t>
            </a:r>
            <a:r>
              <a:rPr lang="en-GB" sz="2000" dirty="0" err="1"/>
              <a:t>unique_id</a:t>
            </a:r>
            <a:r>
              <a:rPr lang="en-GB" sz="2000" dirty="0"/>
              <a:t>, ds, y)</a:t>
            </a:r>
          </a:p>
          <a:p>
            <a:pPr marL="514350" indent="-514350">
              <a:buAutoNum type="arabicPeriod"/>
            </a:pPr>
            <a:r>
              <a:rPr lang="en-GB" sz="2000" dirty="0"/>
              <a:t>We clean dates and numeric values (missing values)</a:t>
            </a:r>
          </a:p>
          <a:p>
            <a:pPr marL="514350" indent="-514350">
              <a:buAutoNum type="arabicPeriod"/>
            </a:pPr>
            <a:r>
              <a:rPr lang="en-GB" sz="2000" dirty="0"/>
              <a:t>We remove “Generación total” and keep Top-7 technologies (by mean generation)</a:t>
            </a:r>
          </a:p>
          <a:p>
            <a:pPr marL="514350" indent="-514350">
              <a:buAutoNum type="arabicPeriod"/>
            </a:pPr>
            <a:r>
              <a:rPr lang="en-GB" sz="2000" dirty="0"/>
              <a:t>We build a complete daily calendar for each technology</a:t>
            </a:r>
          </a:p>
          <a:p>
            <a:pPr marL="514350" indent="-514350">
              <a:buAutoNum type="arabicPeriod"/>
            </a:pPr>
            <a:r>
              <a:rPr lang="en-GB" sz="2000" dirty="0"/>
              <a:t>We fill missing days (forward/backward fill) and the negatives values to 0</a:t>
            </a:r>
          </a:p>
          <a:p>
            <a:pPr marL="514350" indent="-514350">
              <a:buAutoNum type="arabicPeriod"/>
            </a:pPr>
            <a:r>
              <a:rPr lang="en-GB" sz="2000" dirty="0"/>
              <a:t>Output: one clean panel file (parquet) </a:t>
            </a:r>
            <a:endParaRPr lang="en-GB" dirty="0"/>
          </a:p>
          <a:p>
            <a:pPr marL="457200" lvl="1" indent="0">
              <a:buNone/>
            </a:pPr>
            <a:endParaRPr lang="en-GB" sz="2000" dirty="0"/>
          </a:p>
        </p:txBody>
      </p:sp>
    </p:spTree>
    <p:extLst>
      <p:ext uri="{BB962C8B-B14F-4D97-AF65-F5344CB8AC3E}">
        <p14:creationId xmlns:p14="http://schemas.microsoft.com/office/powerpoint/2010/main" val="39463879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0288C6B4-AFC3-407F-A595-EFFD38D4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8" name="Freeform: Shape 17">
            <a:extLst>
              <a:ext uri="{FF2B5EF4-FFF2-40B4-BE49-F238E27FC236}">
                <a16:creationId xmlns:a16="http://schemas.microsoft.com/office/drawing/2014/main" id="{CF236821-17FE-429B-8D2C-08E13A64EA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4455673" cy="6858000"/>
          </a:xfrm>
          <a:custGeom>
            <a:avLst/>
            <a:gdLst>
              <a:gd name="connsiteX0" fmla="*/ 0 w 4455673"/>
              <a:gd name="connsiteY0" fmla="*/ 0 h 6858000"/>
              <a:gd name="connsiteX1" fmla="*/ 3242695 w 4455673"/>
              <a:gd name="connsiteY1" fmla="*/ 0 h 6858000"/>
              <a:gd name="connsiteX2" fmla="*/ 3305678 w 4455673"/>
              <a:gd name="connsiteY2" fmla="*/ 69271 h 6858000"/>
              <a:gd name="connsiteX3" fmla="*/ 4455673 w 4455673"/>
              <a:gd name="connsiteY3" fmla="*/ 3429000 h 6858000"/>
              <a:gd name="connsiteX4" fmla="*/ 3305678 w 4455673"/>
              <a:gd name="connsiteY4" fmla="*/ 6788730 h 6858000"/>
              <a:gd name="connsiteX5" fmla="*/ 3242695 w 4455673"/>
              <a:gd name="connsiteY5" fmla="*/ 6858000 h 6858000"/>
              <a:gd name="connsiteX6" fmla="*/ 0 w 4455673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55673" h="6858000">
                <a:moveTo>
                  <a:pt x="0" y="0"/>
                </a:moveTo>
                <a:lnTo>
                  <a:pt x="3242695" y="0"/>
                </a:lnTo>
                <a:lnTo>
                  <a:pt x="3305678" y="69271"/>
                </a:lnTo>
                <a:cubicBezTo>
                  <a:pt x="4016204" y="929100"/>
                  <a:pt x="4455673" y="2116944"/>
                  <a:pt x="4455673" y="3429000"/>
                </a:cubicBezTo>
                <a:cubicBezTo>
                  <a:pt x="4455673" y="4741056"/>
                  <a:pt x="4016204" y="5928900"/>
                  <a:pt x="3305678" y="6788730"/>
                </a:cubicBezTo>
                <a:lnTo>
                  <a:pt x="3242695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20" name="Freeform: Shape 19">
            <a:extLst>
              <a:ext uri="{FF2B5EF4-FFF2-40B4-BE49-F238E27FC236}">
                <a16:creationId xmlns:a16="http://schemas.microsoft.com/office/drawing/2014/main" id="{C0BDBCD2-E081-43AB-9119-C55465E59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446529" cy="6858000"/>
          </a:xfrm>
          <a:custGeom>
            <a:avLst/>
            <a:gdLst>
              <a:gd name="connsiteX0" fmla="*/ 0 w 4446529"/>
              <a:gd name="connsiteY0" fmla="*/ 0 h 6858000"/>
              <a:gd name="connsiteX1" fmla="*/ 3233551 w 4446529"/>
              <a:gd name="connsiteY1" fmla="*/ 0 h 6858000"/>
              <a:gd name="connsiteX2" fmla="*/ 3296534 w 4446529"/>
              <a:gd name="connsiteY2" fmla="*/ 69271 h 6858000"/>
              <a:gd name="connsiteX3" fmla="*/ 4446529 w 4446529"/>
              <a:gd name="connsiteY3" fmla="*/ 3429000 h 6858000"/>
              <a:gd name="connsiteX4" fmla="*/ 3296534 w 4446529"/>
              <a:gd name="connsiteY4" fmla="*/ 6788730 h 6858000"/>
              <a:gd name="connsiteX5" fmla="*/ 3233551 w 4446529"/>
              <a:gd name="connsiteY5" fmla="*/ 6858000 h 6858000"/>
              <a:gd name="connsiteX6" fmla="*/ 0 w 4446529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46529" h="6858000">
                <a:moveTo>
                  <a:pt x="0" y="0"/>
                </a:moveTo>
                <a:lnTo>
                  <a:pt x="3233551" y="0"/>
                </a:lnTo>
                <a:lnTo>
                  <a:pt x="3296534" y="69271"/>
                </a:lnTo>
                <a:cubicBezTo>
                  <a:pt x="4007060" y="929100"/>
                  <a:pt x="4446529" y="2116944"/>
                  <a:pt x="4446529" y="3429000"/>
                </a:cubicBezTo>
                <a:cubicBezTo>
                  <a:pt x="4446529" y="4741056"/>
                  <a:pt x="4007060" y="5928900"/>
                  <a:pt x="3296534" y="6788730"/>
                </a:cubicBezTo>
                <a:lnTo>
                  <a:pt x="3233551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45D9FF2C-1FCB-7A40-C950-2FE990A43C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094" y="1161288"/>
            <a:ext cx="3438144" cy="123901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8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Insights from the data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8E79BE4-34FE-485A-98A5-92CE8F7C47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426546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A5F0580-5EE9-419F-96EE-B6529EF6E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5893" y="2443480"/>
            <a:ext cx="33832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AB39340-8908-9DAD-9665-1F07AA4B46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71094" y="2718054"/>
            <a:ext cx="3438144" cy="354647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1600" b="1" dirty="0"/>
              <a:t>High variability: </a:t>
            </a:r>
            <a:r>
              <a:rPr lang="en-US" sz="1600" dirty="0"/>
              <a:t>total generation changes a lot day to day</a:t>
            </a:r>
          </a:p>
          <a:p>
            <a:r>
              <a:rPr lang="en-US" sz="1600" b="1" dirty="0"/>
              <a:t>Seasonal changes across years:</a:t>
            </a:r>
            <a:r>
              <a:rPr lang="en-US" sz="1600" dirty="0"/>
              <a:t> the level and volatility are different depending on the time of the year</a:t>
            </a:r>
          </a:p>
          <a:p>
            <a:r>
              <a:rPr lang="en-US" sz="1600" b="1" dirty="0"/>
              <a:t>Important events: </a:t>
            </a:r>
            <a:r>
              <a:rPr lang="en-US" sz="1600" dirty="0"/>
              <a:t>covid, blackout </a:t>
            </a:r>
            <a:endParaRPr lang="en-US" sz="1600" b="1" dirty="0"/>
          </a:p>
          <a:p>
            <a:r>
              <a:rPr lang="en-US" sz="1600" b="1" dirty="0"/>
              <a:t>Why it matters:</a:t>
            </a:r>
            <a:r>
              <a:rPr lang="en-US" sz="1600" dirty="0"/>
              <a:t> our models must handle volatility + rare shocks </a:t>
            </a:r>
            <a:r>
              <a:rPr lang="en-US" sz="1600" dirty="0">
                <a:sym typeface="Wingdings" panose="05000000000000000000" pitchFamily="2" charset="2"/>
              </a:rPr>
              <a:t> we report prediction intervals</a:t>
            </a:r>
            <a:endParaRPr lang="en-US" sz="1600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ABE5BC8D-82AE-56BD-D011-87A1FBF9E6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4389" y="2011623"/>
            <a:ext cx="7642168" cy="3152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53206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40B8F3-0CD4-9CA2-2B32-6AD32D18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Model Families Tested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458AE76-16F3-9322-3513-6AC62BEFCF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b="1" dirty="0"/>
              <a:t>Baselines:</a:t>
            </a:r>
          </a:p>
          <a:p>
            <a:pPr lvl="1"/>
            <a:r>
              <a:rPr lang="en-GB" dirty="0"/>
              <a:t>Naive (last value)</a:t>
            </a:r>
          </a:p>
          <a:p>
            <a:pPr lvl="1"/>
            <a:r>
              <a:rPr lang="en-GB" dirty="0"/>
              <a:t>Moving average (7-days window)</a:t>
            </a:r>
          </a:p>
          <a:p>
            <a:pPr lvl="1"/>
            <a:r>
              <a:rPr lang="en-GB" dirty="0"/>
              <a:t>Seasonal Naive (weekly)</a:t>
            </a:r>
          </a:p>
          <a:p>
            <a:r>
              <a:rPr lang="en-GB" b="1" dirty="0"/>
              <a:t>Statistical:</a:t>
            </a:r>
          </a:p>
          <a:p>
            <a:pPr lvl="1"/>
            <a:r>
              <a:rPr lang="en-GB" dirty="0" err="1"/>
              <a:t>AutoARIMA</a:t>
            </a:r>
            <a:r>
              <a:rPr lang="en-GB" dirty="0"/>
              <a:t> (weekly seasonality)</a:t>
            </a:r>
          </a:p>
          <a:p>
            <a:pPr marL="0" indent="0">
              <a:buNone/>
            </a:pPr>
            <a:endParaRPr lang="en-GB" b="1" dirty="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BE12D95-E880-5C96-778D-FF051D5DB32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GB" b="1" dirty="0"/>
              <a:t>Machine Learning:</a:t>
            </a:r>
          </a:p>
          <a:p>
            <a:pPr lvl="1"/>
            <a:r>
              <a:rPr lang="en-GB" dirty="0"/>
              <a:t>Random Forest</a:t>
            </a:r>
          </a:p>
          <a:p>
            <a:pPr lvl="1"/>
            <a:r>
              <a:rPr lang="en-GB" dirty="0"/>
              <a:t>Gradient Boosting</a:t>
            </a:r>
          </a:p>
          <a:p>
            <a:pPr lvl="1"/>
            <a:r>
              <a:rPr lang="en-GB" b="1" dirty="0"/>
              <a:t>Features: </a:t>
            </a:r>
            <a:r>
              <a:rPr lang="en-GB" dirty="0"/>
              <a:t>Lag features, calendar (day, month, weekday), and rolling &amp; expanding statistics.</a:t>
            </a:r>
          </a:p>
          <a:p>
            <a:r>
              <a:rPr lang="en-GB" b="1" dirty="0"/>
              <a:t>Neural Forecast:</a:t>
            </a:r>
          </a:p>
          <a:p>
            <a:pPr lvl="1"/>
            <a:r>
              <a:rPr lang="en-GB" dirty="0"/>
              <a:t>NBEATS</a:t>
            </a:r>
          </a:p>
          <a:p>
            <a:pPr lvl="1"/>
            <a:r>
              <a:rPr lang="en-GB" dirty="0" err="1"/>
              <a:t>NLinear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20623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1">
            <a:extLst>
              <a:ext uri="{FF2B5EF4-FFF2-40B4-BE49-F238E27FC236}">
                <a16:creationId xmlns:a16="http://schemas.microsoft.com/office/drawing/2014/main" id="{9D9CDDCB-0584-6432-53F5-47AB4C556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b="1" dirty="0"/>
              <a:t>Evaluation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27547B5-D0D6-155B-A759-CDB4F197A3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ECE25051-D12F-E708-7D26-2504DE0B59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1509713"/>
            <a:ext cx="11277600" cy="4667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1323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EA39E2-F78C-1BA0-D34B-1BFB19A4D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January 2026 </a:t>
            </a:r>
            <a:r>
              <a:rPr lang="en-GB" b="1" dirty="0" err="1"/>
              <a:t>Forecst</a:t>
            </a:r>
            <a:r>
              <a:rPr lang="en-GB" b="1" dirty="0"/>
              <a:t> (Top-7 total)</a:t>
            </a: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8619FE7-2CE5-BA08-BB82-E17584F8FB3D}"/>
              </a:ext>
            </a:extLst>
          </p:cNvPr>
          <p:cNvSpPr>
            <a:spLocks noGrp="1" noChangeArrowheads="1"/>
          </p:cNvSpPr>
          <p:nvPr>
            <p:ph sz="half" idx="1"/>
          </p:nvPr>
        </p:nvSpPr>
        <p:spPr bwMode="auto">
          <a:xfrm>
            <a:off x="469231" y="1628809"/>
            <a:ext cx="9653338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Daily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generation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January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2026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forecast</a:t>
            </a:r>
            <a:endParaRPr kumimoji="0" lang="es-ES" altLang="es-E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endParaRPr kumimoji="0" lang="es-ES" altLang="es-E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Orange line =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point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forecast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</a:t>
            </a:r>
            <a:r>
              <a:rPr kumimoji="0" lang="es-ES" altLang="es-ES" sz="20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yhat</a:t>
            </a:r>
            <a:r>
              <a:rPr kumimoji="0" lang="es-ES" altLang="es-E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)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D6FE6BAF-BCCB-416D-9370-D00861747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863" y="2946719"/>
            <a:ext cx="7534274" cy="3120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98350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1">
            <a:extLst>
              <a:ext uri="{FF2B5EF4-FFF2-40B4-BE49-F238E27FC236}">
                <a16:creationId xmlns:a16="http://schemas.microsoft.com/office/drawing/2014/main" id="{A7884B28-AA32-0A27-CA9B-EA002C86D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s-ES" dirty="0" err="1"/>
              <a:t>Early</a:t>
            </a:r>
            <a:r>
              <a:rPr lang="es-ES" dirty="0"/>
              <a:t> </a:t>
            </a:r>
            <a:r>
              <a:rPr lang="es-ES" dirty="0" err="1"/>
              <a:t>check</a:t>
            </a:r>
            <a:r>
              <a:rPr lang="es-ES" dirty="0"/>
              <a:t> (Jan 1-19, 2026) Real vs </a:t>
            </a:r>
            <a:r>
              <a:rPr lang="es-ES" dirty="0" err="1"/>
              <a:t>Forecast</a:t>
            </a:r>
            <a:endParaRPr lang="es-ES" dirty="0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F8D6215-5174-2903-3B86-2CB2CB81D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C16D59B9-457B-66EB-9E42-D6DC709C71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294" y="1862547"/>
            <a:ext cx="10803412" cy="4277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19040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F76C6B0E-224A-8349-E519-3D490B61E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s-ES" dirty="0" err="1"/>
              <a:t>Early</a:t>
            </a:r>
            <a:r>
              <a:rPr lang="es-ES" dirty="0"/>
              <a:t> </a:t>
            </a:r>
            <a:r>
              <a:rPr lang="es-ES" dirty="0" err="1"/>
              <a:t>check</a:t>
            </a:r>
            <a:r>
              <a:rPr lang="es-ES" dirty="0"/>
              <a:t> (Jan 1-19, 2026) Real vs </a:t>
            </a:r>
            <a:r>
              <a:rPr lang="es-ES" dirty="0" err="1"/>
              <a:t>Forecast</a:t>
            </a:r>
            <a:endParaRPr lang="es-ES" dirty="0"/>
          </a:p>
        </p:txBody>
      </p:sp>
      <p:sp>
        <p:nvSpPr>
          <p:cNvPr id="2" name="Marcador de contenido 2">
            <a:extLst>
              <a:ext uri="{FF2B5EF4-FFF2-40B4-BE49-F238E27FC236}">
                <a16:creationId xmlns:a16="http://schemas.microsoft.com/office/drawing/2014/main" id="{1528FFAA-E206-C97A-A039-64505D459DA4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sz="2000" b="1" dirty="0"/>
              <a:t>Final </a:t>
            </a:r>
            <a:r>
              <a:rPr lang="es-ES" sz="2000" b="1" dirty="0" err="1"/>
              <a:t>model</a:t>
            </a:r>
            <a:r>
              <a:rPr lang="es-ES" sz="2000" b="1" dirty="0"/>
              <a:t> </a:t>
            </a:r>
            <a:r>
              <a:rPr lang="es-ES" sz="2000" b="1" dirty="0" err="1"/>
              <a:t>used</a:t>
            </a:r>
            <a:r>
              <a:rPr lang="es-ES" sz="2000" b="1" dirty="0"/>
              <a:t> </a:t>
            </a:r>
            <a:r>
              <a:rPr lang="es-ES" sz="2000" b="1" dirty="0" err="1"/>
              <a:t>for</a:t>
            </a:r>
            <a:r>
              <a:rPr lang="es-ES" sz="2000" b="1" dirty="0"/>
              <a:t> </a:t>
            </a:r>
            <a:r>
              <a:rPr lang="es-ES" sz="2000" b="1" dirty="0" err="1"/>
              <a:t>the</a:t>
            </a:r>
            <a:r>
              <a:rPr lang="es-ES" sz="2000" b="1" dirty="0"/>
              <a:t> </a:t>
            </a:r>
            <a:r>
              <a:rPr lang="es-ES" sz="2000" b="1" dirty="0" err="1"/>
              <a:t>forecast</a:t>
            </a:r>
            <a:r>
              <a:rPr lang="es-ES" sz="2000" b="1" dirty="0"/>
              <a:t> </a:t>
            </a:r>
            <a:r>
              <a:rPr lang="es-ES" sz="2000" dirty="0">
                <a:sym typeface="Wingdings" panose="05000000000000000000" pitchFamily="2" charset="2"/>
              </a:rPr>
              <a:t></a:t>
            </a:r>
            <a:r>
              <a:rPr lang="es-ES" sz="2000" b="1" dirty="0" err="1"/>
              <a:t>RandomForestRegressor</a:t>
            </a:r>
            <a:r>
              <a:rPr lang="es-ES" sz="2000" b="1" dirty="0"/>
              <a:t>(</a:t>
            </a:r>
            <a:r>
              <a:rPr lang="es-ES" sz="2000" b="1" dirty="0" err="1"/>
              <a:t>lags</a:t>
            </a:r>
            <a:r>
              <a:rPr lang="es-ES" sz="2000" b="1" dirty="0"/>
              <a:t>) </a:t>
            </a:r>
            <a:r>
              <a:rPr lang="es-ES" sz="2000" dirty="0" err="1"/>
              <a:t>selected</a:t>
            </a:r>
            <a:r>
              <a:rPr lang="es-ES" sz="2000" dirty="0"/>
              <a:t> as </a:t>
            </a:r>
            <a:r>
              <a:rPr lang="es-ES" sz="2000" dirty="0" err="1"/>
              <a:t>best</a:t>
            </a:r>
            <a:r>
              <a:rPr lang="es-ES" sz="2000" dirty="0"/>
              <a:t> </a:t>
            </a:r>
            <a:r>
              <a:rPr lang="es-ES" sz="2000" dirty="0" err="1"/>
              <a:t>overall</a:t>
            </a:r>
            <a:r>
              <a:rPr lang="es-ES" sz="2000" dirty="0"/>
              <a:t> </a:t>
            </a:r>
            <a:r>
              <a:rPr lang="es-ES" sz="2000" dirty="0" err="1"/>
              <a:t>by</a:t>
            </a:r>
            <a:r>
              <a:rPr lang="es-ES" sz="2000" dirty="0"/>
              <a:t> </a:t>
            </a:r>
            <a:r>
              <a:rPr lang="es-ES" sz="2000" dirty="0" err="1"/>
              <a:t>Validation</a:t>
            </a:r>
            <a:r>
              <a:rPr lang="es-ES" sz="2000" dirty="0"/>
              <a:t> MAE </a:t>
            </a:r>
            <a:r>
              <a:rPr lang="es-ES" sz="2000" dirty="0" err="1"/>
              <a:t>across</a:t>
            </a:r>
            <a:r>
              <a:rPr lang="es-ES" sz="2000" dirty="0"/>
              <a:t> 7 </a:t>
            </a:r>
            <a:r>
              <a:rPr lang="es-ES" sz="2000" dirty="0" err="1"/>
              <a:t>technologies</a:t>
            </a:r>
            <a:r>
              <a:rPr lang="es-ES" sz="2000" dirty="0"/>
              <a:t>)</a:t>
            </a:r>
          </a:p>
          <a:p>
            <a:r>
              <a:rPr lang="es-ES" sz="2000" b="1" dirty="0" err="1"/>
              <a:t>Accuracy</a:t>
            </a:r>
            <a:r>
              <a:rPr lang="es-ES" sz="2000" b="1" dirty="0"/>
              <a:t>: </a:t>
            </a:r>
            <a:r>
              <a:rPr lang="es-ES" sz="2000" dirty="0"/>
              <a:t>MAE = 94,64 GWh, MAPE = 11,91%</a:t>
            </a:r>
          </a:p>
          <a:p>
            <a:r>
              <a:rPr lang="es-ES" sz="2000" b="1" dirty="0" err="1"/>
              <a:t>Interpretation</a:t>
            </a:r>
            <a:r>
              <a:rPr lang="es-ES" sz="2000" b="1" dirty="0"/>
              <a:t>: </a:t>
            </a:r>
            <a:r>
              <a:rPr lang="es-ES" sz="2000" dirty="0" err="1"/>
              <a:t>the</a:t>
            </a:r>
            <a:r>
              <a:rPr lang="es-ES" sz="2000" dirty="0"/>
              <a:t> </a:t>
            </a:r>
            <a:r>
              <a:rPr lang="es-ES" sz="2000" dirty="0" err="1"/>
              <a:t>model</a:t>
            </a:r>
            <a:r>
              <a:rPr lang="es-ES" sz="2000" dirty="0"/>
              <a:t> captures </a:t>
            </a:r>
            <a:r>
              <a:rPr lang="es-ES" sz="2000" dirty="0" err="1"/>
              <a:t>the</a:t>
            </a:r>
            <a:r>
              <a:rPr lang="es-ES" sz="2000" dirty="0"/>
              <a:t> </a:t>
            </a:r>
            <a:r>
              <a:rPr lang="es-ES" sz="2000" dirty="0" err="1"/>
              <a:t>level</a:t>
            </a:r>
            <a:r>
              <a:rPr lang="es-ES" sz="2000" dirty="0"/>
              <a:t>, </a:t>
            </a:r>
            <a:r>
              <a:rPr lang="es-ES" sz="2000" dirty="0" err="1"/>
              <a:t>but</a:t>
            </a:r>
            <a:r>
              <a:rPr lang="es-ES" sz="2000" dirty="0"/>
              <a:t> </a:t>
            </a:r>
            <a:r>
              <a:rPr lang="es-ES" sz="2000" dirty="0" err="1"/>
              <a:t>it</a:t>
            </a:r>
            <a:r>
              <a:rPr lang="es-ES" sz="2000" dirty="0"/>
              <a:t> </a:t>
            </a:r>
            <a:r>
              <a:rPr lang="es-ES" sz="2000" dirty="0" err="1"/>
              <a:t>misses</a:t>
            </a:r>
            <a:r>
              <a:rPr lang="es-ES" sz="2000" dirty="0"/>
              <a:t> short-</a:t>
            </a:r>
            <a:r>
              <a:rPr lang="es-ES" sz="2000" dirty="0" err="1"/>
              <a:t>term</a:t>
            </a:r>
            <a:r>
              <a:rPr lang="es-ES" sz="2000" dirty="0"/>
              <a:t> </a:t>
            </a:r>
            <a:r>
              <a:rPr lang="es-ES" sz="2000" dirty="0" err="1"/>
              <a:t>spikes</a:t>
            </a:r>
            <a:r>
              <a:rPr lang="es-ES" sz="2000" dirty="0"/>
              <a:t> in </a:t>
            </a:r>
            <a:r>
              <a:rPr lang="es-ES" sz="2000" dirty="0" err="1"/>
              <a:t>the</a:t>
            </a:r>
            <a:r>
              <a:rPr lang="es-ES" sz="2000" dirty="0"/>
              <a:t> </a:t>
            </a:r>
            <a:r>
              <a:rPr lang="es-ES" sz="2000" dirty="0" err="1"/>
              <a:t>first</a:t>
            </a:r>
            <a:r>
              <a:rPr lang="es-ES" sz="2000" dirty="0"/>
              <a:t> </a:t>
            </a:r>
            <a:r>
              <a:rPr lang="es-ES" sz="2000" dirty="0" err="1"/>
              <a:t>three</a:t>
            </a:r>
            <a:r>
              <a:rPr lang="es-ES" sz="2000" dirty="0"/>
              <a:t> </a:t>
            </a:r>
            <a:r>
              <a:rPr lang="es-ES" sz="2000" dirty="0" err="1"/>
              <a:t>weeks</a:t>
            </a:r>
            <a:r>
              <a:rPr lang="es-ES" sz="2000" dirty="0"/>
              <a:t> </a:t>
            </a:r>
            <a:r>
              <a:rPr lang="es-ES" sz="2000" dirty="0" err="1"/>
              <a:t>of</a:t>
            </a:r>
            <a:r>
              <a:rPr lang="es-ES" sz="2000" dirty="0"/>
              <a:t> </a:t>
            </a:r>
            <a:r>
              <a:rPr lang="es-ES" sz="2000" dirty="0" err="1"/>
              <a:t>January</a:t>
            </a:r>
            <a:r>
              <a:rPr lang="es-ES" sz="2000" dirty="0"/>
              <a:t>.</a:t>
            </a:r>
          </a:p>
          <a:p>
            <a:r>
              <a:rPr lang="es-ES" sz="2000" b="1" dirty="0" err="1"/>
              <a:t>Why</a:t>
            </a:r>
            <a:r>
              <a:rPr lang="es-ES" sz="2000" b="1" dirty="0"/>
              <a:t> </a:t>
            </a:r>
            <a:r>
              <a:rPr lang="es-ES" sz="2000" b="1" dirty="0" err="1"/>
              <a:t>this</a:t>
            </a:r>
            <a:r>
              <a:rPr lang="es-ES" sz="2000" b="1" dirty="0"/>
              <a:t> </a:t>
            </a:r>
            <a:r>
              <a:rPr lang="es-ES" sz="2000" b="1" dirty="0" err="1"/>
              <a:t>is</a:t>
            </a:r>
            <a:r>
              <a:rPr lang="es-ES" sz="2000" b="1" dirty="0"/>
              <a:t> </a:t>
            </a:r>
            <a:r>
              <a:rPr lang="es-ES" sz="2000" b="1" dirty="0" err="1"/>
              <a:t>expected</a:t>
            </a:r>
            <a:r>
              <a:rPr lang="es-ES" sz="2000" dirty="0"/>
              <a:t>: </a:t>
            </a:r>
            <a:r>
              <a:rPr lang="es-ES" sz="2000" dirty="0" err="1"/>
              <a:t>we</a:t>
            </a:r>
            <a:r>
              <a:rPr lang="es-ES" sz="2000" dirty="0"/>
              <a:t> </a:t>
            </a:r>
            <a:r>
              <a:rPr lang="es-ES" sz="2000" dirty="0" err="1"/>
              <a:t>only</a:t>
            </a:r>
            <a:r>
              <a:rPr lang="es-ES" sz="2000" dirty="0"/>
              <a:t> </a:t>
            </a:r>
            <a:r>
              <a:rPr lang="es-ES" sz="2000" dirty="0" err="1"/>
              <a:t>used</a:t>
            </a:r>
            <a:r>
              <a:rPr lang="es-ES" sz="2000" dirty="0"/>
              <a:t> </a:t>
            </a:r>
            <a:r>
              <a:rPr lang="es-ES" sz="2000" dirty="0" err="1"/>
              <a:t>historical</a:t>
            </a:r>
            <a:r>
              <a:rPr lang="es-ES" sz="2000" dirty="0"/>
              <a:t> </a:t>
            </a:r>
            <a:r>
              <a:rPr lang="es-ES" sz="2000" dirty="0" err="1"/>
              <a:t>generation</a:t>
            </a:r>
            <a:r>
              <a:rPr lang="es-ES" sz="2000" dirty="0"/>
              <a:t> (</a:t>
            </a:r>
            <a:r>
              <a:rPr lang="es-ES" sz="2000" dirty="0" err="1"/>
              <a:t>lags+calendar</a:t>
            </a:r>
            <a:r>
              <a:rPr lang="es-ES" sz="2000" dirty="0"/>
              <a:t>) and </a:t>
            </a:r>
            <a:r>
              <a:rPr lang="es-ES" sz="2000" dirty="0" err="1"/>
              <a:t>did</a:t>
            </a:r>
            <a:r>
              <a:rPr lang="es-ES" sz="2000" dirty="0"/>
              <a:t> </a:t>
            </a:r>
            <a:r>
              <a:rPr lang="es-ES" sz="2000" dirty="0" err="1"/>
              <a:t>not</a:t>
            </a:r>
            <a:r>
              <a:rPr lang="es-ES" sz="2000" dirty="0"/>
              <a:t> </a:t>
            </a:r>
            <a:r>
              <a:rPr lang="es-ES" sz="2000" dirty="0" err="1"/>
              <a:t>include</a:t>
            </a:r>
            <a:r>
              <a:rPr lang="es-ES" sz="2000" dirty="0"/>
              <a:t> </a:t>
            </a:r>
            <a:r>
              <a:rPr lang="es-ES" sz="2000" dirty="0" err="1"/>
              <a:t>external</a:t>
            </a:r>
            <a:r>
              <a:rPr lang="es-ES" sz="2000" dirty="0"/>
              <a:t> drivers (</a:t>
            </a:r>
            <a:r>
              <a:rPr lang="es-ES" sz="2000" dirty="0" err="1"/>
              <a:t>weather</a:t>
            </a:r>
            <a:r>
              <a:rPr lang="es-ES" sz="2000" dirty="0"/>
              <a:t>, </a:t>
            </a:r>
            <a:r>
              <a:rPr lang="es-ES" sz="2000" dirty="0" err="1"/>
              <a:t>demand</a:t>
            </a:r>
            <a:r>
              <a:rPr lang="es-ES" sz="2000" dirty="0"/>
              <a:t>..)</a:t>
            </a:r>
          </a:p>
          <a:p>
            <a:r>
              <a:rPr lang="es-ES" sz="2000" b="1" dirty="0" err="1"/>
              <a:t>Further</a:t>
            </a:r>
            <a:r>
              <a:rPr lang="es-ES" sz="2000" b="1" dirty="0"/>
              <a:t> </a:t>
            </a:r>
            <a:r>
              <a:rPr lang="es-ES" sz="2000" b="1" dirty="0" err="1"/>
              <a:t>improvements</a:t>
            </a:r>
            <a:r>
              <a:rPr lang="es-ES" sz="2000" b="1" dirty="0"/>
              <a:t> </a:t>
            </a:r>
          </a:p>
          <a:p>
            <a:pPr lvl="1"/>
            <a:r>
              <a:rPr lang="es-ES" sz="1800" dirty="0" err="1"/>
              <a:t>Add</a:t>
            </a:r>
            <a:r>
              <a:rPr lang="es-ES" sz="1800" dirty="0"/>
              <a:t> </a:t>
            </a:r>
            <a:r>
              <a:rPr lang="es-ES" sz="1800" dirty="0" err="1"/>
              <a:t>features</a:t>
            </a:r>
            <a:r>
              <a:rPr lang="es-ES" sz="1800" dirty="0"/>
              <a:t> </a:t>
            </a:r>
            <a:r>
              <a:rPr lang="es-ES" sz="1800" dirty="0" err="1"/>
              <a:t>like</a:t>
            </a:r>
            <a:r>
              <a:rPr lang="es-ES" sz="1800" dirty="0"/>
              <a:t> </a:t>
            </a:r>
            <a:r>
              <a:rPr lang="es-ES" sz="1800" dirty="0" err="1"/>
              <a:t>temperature</a:t>
            </a:r>
            <a:r>
              <a:rPr lang="es-ES" sz="1800" dirty="0"/>
              <a:t>, </a:t>
            </a:r>
            <a:r>
              <a:rPr lang="es-ES" sz="1800" dirty="0" err="1"/>
              <a:t>wind</a:t>
            </a:r>
            <a:r>
              <a:rPr lang="es-ES" sz="1800" dirty="0"/>
              <a:t> </a:t>
            </a:r>
            <a:r>
              <a:rPr lang="es-ES" sz="1800" dirty="0" err="1"/>
              <a:t>speed</a:t>
            </a:r>
            <a:r>
              <a:rPr lang="es-ES" sz="1800" dirty="0"/>
              <a:t>, </a:t>
            </a:r>
            <a:r>
              <a:rPr lang="es-ES" sz="1800" dirty="0" err="1"/>
              <a:t>holidays</a:t>
            </a:r>
            <a:r>
              <a:rPr lang="es-ES" sz="1800" dirty="0"/>
              <a:t>, </a:t>
            </a:r>
            <a:r>
              <a:rPr lang="es-ES" sz="1800" dirty="0" err="1"/>
              <a:t>demand</a:t>
            </a:r>
            <a:r>
              <a:rPr lang="es-ES" sz="1800" dirty="0"/>
              <a:t>)</a:t>
            </a:r>
          </a:p>
          <a:p>
            <a:pPr marL="457200" lvl="1" indent="0">
              <a:buNone/>
            </a:pPr>
            <a:endParaRPr lang="es-ES" sz="1800" dirty="0"/>
          </a:p>
          <a:p>
            <a:r>
              <a:rPr lang="es-ES" sz="2000" dirty="0" err="1"/>
              <a:t>Even</a:t>
            </a:r>
            <a:r>
              <a:rPr lang="es-ES" sz="2000" dirty="0"/>
              <a:t> </a:t>
            </a:r>
            <a:r>
              <a:rPr lang="es-ES" sz="2000" dirty="0" err="1"/>
              <a:t>with</a:t>
            </a:r>
            <a:r>
              <a:rPr lang="es-ES" sz="2000" dirty="0"/>
              <a:t> </a:t>
            </a:r>
            <a:r>
              <a:rPr lang="es-ES" sz="2000" dirty="0" err="1"/>
              <a:t>imperfect</a:t>
            </a:r>
            <a:r>
              <a:rPr lang="es-ES" sz="2000" dirty="0"/>
              <a:t> </a:t>
            </a:r>
            <a:r>
              <a:rPr lang="es-ES" sz="2000" dirty="0" err="1"/>
              <a:t>accuracy</a:t>
            </a:r>
            <a:r>
              <a:rPr lang="es-ES" sz="2000" dirty="0"/>
              <a:t>, a </a:t>
            </a:r>
            <a:r>
              <a:rPr lang="es-ES" sz="2000" dirty="0" err="1"/>
              <a:t>forecast</a:t>
            </a:r>
            <a:r>
              <a:rPr lang="es-ES" sz="2000" dirty="0"/>
              <a:t> </a:t>
            </a:r>
            <a:r>
              <a:rPr lang="es-ES" sz="2000" dirty="0" err="1"/>
              <a:t>is</a:t>
            </a:r>
            <a:r>
              <a:rPr lang="es-ES" sz="2000" dirty="0"/>
              <a:t> </a:t>
            </a:r>
            <a:r>
              <a:rPr lang="es-ES" sz="2000" dirty="0" err="1"/>
              <a:t>useful</a:t>
            </a:r>
            <a:r>
              <a:rPr lang="es-ES" sz="2000" dirty="0"/>
              <a:t> </a:t>
            </a:r>
            <a:r>
              <a:rPr lang="es-ES" sz="2000" dirty="0" err="1"/>
              <a:t>for</a:t>
            </a:r>
            <a:r>
              <a:rPr lang="es-ES" sz="2000" dirty="0"/>
              <a:t> </a:t>
            </a:r>
            <a:r>
              <a:rPr lang="es-ES" sz="2000" dirty="0" err="1"/>
              <a:t>planning</a:t>
            </a:r>
            <a:r>
              <a:rPr lang="es-ES" sz="2000" dirty="0"/>
              <a:t> and </a:t>
            </a:r>
            <a:r>
              <a:rPr lang="es-ES" sz="2000" dirty="0" err="1"/>
              <a:t>risk</a:t>
            </a:r>
            <a:r>
              <a:rPr lang="es-ES" sz="2000" dirty="0"/>
              <a:t> </a:t>
            </a:r>
            <a:r>
              <a:rPr lang="es-ES" sz="2000" dirty="0" err="1"/>
              <a:t>management</a:t>
            </a:r>
            <a:r>
              <a:rPr lang="es-ES" sz="2000" dirty="0"/>
              <a:t> (</a:t>
            </a:r>
            <a:r>
              <a:rPr lang="es-ES" sz="2000" dirty="0" err="1"/>
              <a:t>better</a:t>
            </a:r>
            <a:r>
              <a:rPr lang="es-ES" sz="2000" dirty="0"/>
              <a:t> </a:t>
            </a:r>
            <a:r>
              <a:rPr lang="es-ES" sz="2000" dirty="0" err="1"/>
              <a:t>than</a:t>
            </a:r>
            <a:r>
              <a:rPr lang="es-ES" sz="2000" dirty="0"/>
              <a:t> “no </a:t>
            </a:r>
            <a:r>
              <a:rPr lang="es-ES" sz="2000" dirty="0" err="1"/>
              <a:t>forecast</a:t>
            </a:r>
            <a:r>
              <a:rPr lang="es-ES" sz="2000" dirty="0"/>
              <a:t>”)</a:t>
            </a:r>
          </a:p>
          <a:p>
            <a:endParaRPr lang="es-ES" sz="2000" dirty="0"/>
          </a:p>
        </p:txBody>
      </p:sp>
    </p:spTree>
    <p:extLst>
      <p:ext uri="{BB962C8B-B14F-4D97-AF65-F5344CB8AC3E}">
        <p14:creationId xmlns:p14="http://schemas.microsoft.com/office/powerpoint/2010/main" val="37141203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The End-Bilder: Stock-Fotos &amp; -Videos. | Adobe Stock">
            <a:extLst>
              <a:ext uri="{FF2B5EF4-FFF2-40B4-BE49-F238E27FC236}">
                <a16:creationId xmlns:a16="http://schemas.microsoft.com/office/drawing/2014/main" id="{8A9FD138-5AB5-2F43-6D27-B286E92127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2038" y="1463529"/>
            <a:ext cx="8344853" cy="47765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61E0B178-5AFE-CC77-6E4F-9198CEE34A88}"/>
              </a:ext>
            </a:extLst>
          </p:cNvPr>
          <p:cNvSpPr txBox="1"/>
          <p:nvPr/>
        </p:nvSpPr>
        <p:spPr>
          <a:xfrm>
            <a:off x="1150375" y="452954"/>
            <a:ext cx="106680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3600" dirty="0">
                <a:latin typeface="Arial Black" panose="020B0A04020102020204" pitchFamily="34" charset="0"/>
              </a:rPr>
              <a:t>THANK YOU FOR YOUR ATTENTION </a:t>
            </a:r>
            <a:r>
              <a:rPr lang="es-ES" sz="3600" dirty="0">
                <a:latin typeface="Arial Black" panose="020B0A04020102020204" pitchFamily="34" charset="0"/>
                <a:sym typeface="Wingdings" panose="05000000000000000000" pitchFamily="2" charset="2"/>
              </a:rPr>
              <a:t>:)</a:t>
            </a:r>
            <a:endParaRPr lang="es-ES" sz="3600" dirty="0"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675815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823</TotalTime>
  <Words>773</Words>
  <Application>Microsoft Office PowerPoint</Application>
  <PresentationFormat>Panorámica</PresentationFormat>
  <Paragraphs>102</Paragraphs>
  <Slides>15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15</vt:i4>
      </vt:variant>
    </vt:vector>
  </HeadingPairs>
  <TitlesOfParts>
    <vt:vector size="22" baseType="lpstr">
      <vt:lpstr>Aptos</vt:lpstr>
      <vt:lpstr>Aptos Display</vt:lpstr>
      <vt:lpstr>Arial</vt:lpstr>
      <vt:lpstr>Arial Black</vt:lpstr>
      <vt:lpstr>Calibri</vt:lpstr>
      <vt:lpstr>Wingdings</vt:lpstr>
      <vt:lpstr>Tema de Office</vt:lpstr>
      <vt:lpstr>Forecasting Spain Daily Electricity Generation (REE) January 2026</vt:lpstr>
      <vt:lpstr>Team &amp; Contributions. </vt:lpstr>
      <vt:lpstr>Business Problem</vt:lpstr>
      <vt:lpstr>Value and Decisions</vt:lpstr>
      <vt:lpstr>Presentación de PowerPoint</vt:lpstr>
      <vt:lpstr>Presentación de PowerPoint</vt:lpstr>
      <vt:lpstr>Solution Overview </vt:lpstr>
      <vt:lpstr>Data Engineering. </vt:lpstr>
      <vt:lpstr>Insights from the data</vt:lpstr>
      <vt:lpstr>Model Families Tested</vt:lpstr>
      <vt:lpstr>Evaluation </vt:lpstr>
      <vt:lpstr>January 2026 Forecst (Top-7 total)</vt:lpstr>
      <vt:lpstr>Early check (Jan 1-19, 2026) Real vs Forecast</vt:lpstr>
      <vt:lpstr>Early check (Jan 1-19, 2026) Real vs Forecast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MIREIA MONTOYA BUENDIA</dc:creator>
  <cp:lastModifiedBy>Enrique Ruiz Gallego</cp:lastModifiedBy>
  <cp:revision>12</cp:revision>
  <dcterms:created xsi:type="dcterms:W3CDTF">2025-12-29T20:01:16Z</dcterms:created>
  <dcterms:modified xsi:type="dcterms:W3CDTF">2026-01-22T18:42:18Z</dcterms:modified>
</cp:coreProperties>
</file>