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09506-3838-B9DB-188B-B8BE9E2A7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9EBE80-7670-9D2E-FC3C-B9FFA95AE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DE5C56-0F12-F54E-40B6-FD236898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60621-99F8-F273-1B65-AA455220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1626BE-93BE-C335-33A8-7EE91105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1F159-547A-C66A-18E8-6F4DA66A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234C59-4348-1C7E-D6E1-F5995C7BC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1C34EB-8ED9-0B92-9D18-646FED6A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B4143A-699B-D2D4-F9D8-98EA0063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F64A5B-F057-1899-33BC-1B53F259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03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D57EE-2E3F-78B0-C115-5F6B00E7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83BE68-EA12-38E8-1E4F-9B906A1F8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756A73-7A9E-615C-6393-E6F6B88A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F6152-8900-D706-E3F5-116E7A8D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2715DD-320C-A4FE-63B8-589A02B9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40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43E64-F6DB-D5F8-E62F-D828C46E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34E4DC-6D8D-AB32-41FD-C986762CD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A2DB3-9C66-A462-C308-7A57B2B2D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7D6BD7-228D-FDC4-6D08-0BC706FC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2D4964-4F1C-A423-62F2-7675CEAE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4312AD-4BAC-5F28-F2C5-10F30E8B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96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43854-2205-9A89-94B1-E2B3B1AF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5DFAB7-4FA7-82F3-63A9-9B26FE696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3DCFC8-F4AB-47D7-B2A0-226810AE7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7CAE76-6EC0-6008-9490-8FF73C195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6259B5-7F36-34A1-06FA-7D1DE6C72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474E61-B68B-5649-E561-D569B41B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234976-B882-B362-B26D-F31B0A95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B288CD-90E0-C4E4-9362-DB1FB5D1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82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A92CF-E4EF-8BBA-3465-523BF9B0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1818A9-EF49-0344-8F5D-CA5117FC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F37F25-AB01-F98C-49D0-11628892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8BFA8D-6275-C768-C272-DC312DE7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567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A8BE2F-EA2A-F9DC-41D2-3D9CB443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CCB02A-9BAD-D423-2697-D7E4709F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5DDD53-8988-3C7C-5FEB-72A33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8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BB546-D01A-B38A-A790-48B4ABE8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FF7326-5813-04DD-8B79-A2F881B3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1DBCF5-B24A-5729-23C9-4C9CE1B9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EF1A4E-3229-6801-C2E9-B1665DC8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A5267-B0B9-E96E-D78D-318AA291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A92FB9-3E1F-73CD-B936-20261FDE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91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A1B9D-2C86-9FC6-F102-313C9770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3897A5-67E4-D7AB-ED5F-6387B6E6D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6A3F8-9FC0-7943-EC27-BC0A50991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576D6-3D91-32FB-C361-E471CB24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F3E50A-1685-73FB-C5BA-60DE22D7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6578C0-48BD-AA93-DED8-1958C664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64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519A9-5DAF-D3DB-6236-187CF0D9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29126A-884E-87A2-5CA1-792883795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9097E-3281-2462-D25B-E8919756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0EDF42-1CA7-1AF5-3248-FDC5AE7C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44F1EC-F5EA-612D-59F1-1B0C3D16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65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6FB9EE-5829-E22A-C847-3BEC8A0A4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8E8BAF-7D7C-3A47-707A-C9D6695EE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D6F70E-2C61-765D-465B-08247568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0D1A55-3FDD-1EC1-6463-7EEC4E2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5BCDF0-E29E-1077-77AD-BBCE5E4B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9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5D735E-226F-673D-B258-56093EAB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30E5BD-52FD-8D85-38BA-2D2A03F0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3A931E-B444-A338-D0C0-7BCDB996E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FD437-33C7-4B24-B6C7-F91A3EACF5E2}" type="datetimeFigureOut">
              <a:rPr lang="en-GB" smtClean="0"/>
              <a:t>31/12/2025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97DB7D-B08A-BA8A-D9BD-3CE0CF1D4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D3497B-F224-1D0F-B100-A776D691D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E5583-4A11-4BD7-8657-C3BAC446E1E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24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817C8-D649-CE1A-DBBC-856DA9F6E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Forecasting Daily Electricity Generation in Spain </a:t>
            </a:r>
            <a:endParaRPr lang="en-GB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C307ED-4B8A-8525-E6FF-511BA5EF6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/>
              <a:t>Capstone Forecasting Project</a:t>
            </a:r>
          </a:p>
          <a:p>
            <a:r>
              <a:rPr lang="en-GB"/>
              <a:t>Time Series Analysis</a:t>
            </a:r>
          </a:p>
          <a:p>
            <a:r>
              <a:rPr lang="en-GB"/>
              <a:t>Team: Spanish Forecasters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17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C6E7F-E335-FF39-BC2D-8AD08573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&amp; Contributions.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F21CB2-11F2-98CB-E598-0E906090B7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Enrique Ruiz:</a:t>
            </a:r>
          </a:p>
          <a:p>
            <a:pPr lvl="1"/>
            <a:r>
              <a:rPr lang="en-GB" dirty="0"/>
              <a:t>Data parsing/cleaning</a:t>
            </a:r>
          </a:p>
          <a:p>
            <a:pPr lvl="1"/>
            <a:r>
              <a:rPr lang="en-GB" dirty="0"/>
              <a:t>Modelling </a:t>
            </a:r>
          </a:p>
          <a:p>
            <a:pPr lvl="1"/>
            <a:r>
              <a:rPr lang="en-GB" dirty="0"/>
              <a:t>Evaluation </a:t>
            </a:r>
          </a:p>
          <a:p>
            <a:pPr lvl="1"/>
            <a:r>
              <a:rPr lang="en-GB" dirty="0"/>
              <a:t>Plots</a:t>
            </a:r>
          </a:p>
          <a:p>
            <a:pPr lvl="1"/>
            <a:r>
              <a:rPr lang="en-GB" dirty="0"/>
              <a:t>Business value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D08206-EE7A-3E02-0120-39AE8E2E90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Mireia Montoya:</a:t>
            </a:r>
          </a:p>
          <a:p>
            <a:pPr lvl="1"/>
            <a:r>
              <a:rPr lang="en-GB" dirty="0"/>
              <a:t>Documentation </a:t>
            </a:r>
          </a:p>
          <a:p>
            <a:pPr lvl="1"/>
            <a:r>
              <a:rPr lang="en-GB" dirty="0"/>
              <a:t>Slide deck</a:t>
            </a:r>
          </a:p>
          <a:p>
            <a:pPr lvl="1"/>
            <a:r>
              <a:rPr lang="en-GB" dirty="0"/>
              <a:t>Interpretation of results</a:t>
            </a:r>
          </a:p>
          <a:p>
            <a:pPr lvl="1"/>
            <a:r>
              <a:rPr lang="en-GB" dirty="0"/>
              <a:t>Presentation speaking roles</a:t>
            </a:r>
          </a:p>
          <a:p>
            <a:pPr lvl="1"/>
            <a:r>
              <a:rPr lang="en-GB" dirty="0"/>
              <a:t>Plots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77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C3630-63D1-4ABA-5E90-22852787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6767"/>
            <a:ext cx="3932237" cy="50131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Business Problem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114C0-C700-0A15-B440-C84721949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F08160-F46B-2EA8-0115-2429FF46C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3580"/>
            <a:ext cx="3932237" cy="399448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Problem: </a:t>
            </a:r>
            <a:r>
              <a:rPr lang="en-GB" dirty="0"/>
              <a:t>Electricity generation varies due to the weather, demand or seasonality. This creates uncertainty for system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Goal: </a:t>
            </a:r>
            <a:r>
              <a:rPr lang="en-GB" dirty="0"/>
              <a:t>Forecast daily electricity generation for Spain by production technology for January 2026.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0ABE41F3-A217-D9FB-3780-61E5B5AD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363580"/>
            <a:ext cx="675674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95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70FDD-F60D-CD86-6B5D-42D10468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Forecasting Matters?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D5D11-1F12-A2BB-0779-DA3F2FC7F3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Accurate forecast support:</a:t>
            </a:r>
          </a:p>
          <a:p>
            <a:pPr lvl="1"/>
            <a:r>
              <a:rPr lang="en-GB" dirty="0"/>
              <a:t>Operational planning and balancing </a:t>
            </a:r>
          </a:p>
          <a:p>
            <a:pPr lvl="1"/>
            <a:r>
              <a:rPr lang="en-GB" dirty="0"/>
              <a:t>Resource scheduling</a:t>
            </a:r>
          </a:p>
          <a:p>
            <a:pPr lvl="1"/>
            <a:r>
              <a:rPr lang="en-GB" dirty="0"/>
              <a:t>Markt decisions and risk management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D3EC20-713B-F674-A0B0-6E0154253C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Without forecast:</a:t>
            </a:r>
          </a:p>
          <a:p>
            <a:pPr lvl="1"/>
            <a:r>
              <a:rPr lang="en-GB" dirty="0"/>
              <a:t>Reactive decisions </a:t>
            </a:r>
          </a:p>
          <a:p>
            <a:pPr lvl="1"/>
            <a:r>
              <a:rPr lang="en-GB" dirty="0"/>
              <a:t>Higher operational risk </a:t>
            </a:r>
          </a:p>
          <a:p>
            <a:pPr lvl="1"/>
            <a:r>
              <a:rPr lang="en-GB" dirty="0"/>
              <a:t>Potential extra costs </a:t>
            </a:r>
          </a:p>
        </p:txBody>
      </p:sp>
    </p:spTree>
    <p:extLst>
      <p:ext uri="{BB962C8B-B14F-4D97-AF65-F5344CB8AC3E}">
        <p14:creationId xmlns:p14="http://schemas.microsoft.com/office/powerpoint/2010/main" val="4109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9E8B0-5780-1E83-BEA3-DA915D48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Solution Overview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4CECC-7894-ECB1-EB7F-3348F97157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GB" b="1" dirty="0"/>
              <a:t>Business understanding: </a:t>
            </a:r>
            <a:r>
              <a:rPr lang="en-GB" dirty="0"/>
              <a:t>define the forecasting goal and the value.</a:t>
            </a:r>
          </a:p>
          <a:p>
            <a:pPr marL="514350" indent="-514350">
              <a:buAutoNum type="arabicPeriod"/>
            </a:pPr>
            <a:r>
              <a:rPr lang="en-GB" b="1" dirty="0"/>
              <a:t>Data understanding: </a:t>
            </a:r>
            <a:r>
              <a:rPr lang="en-GB" dirty="0"/>
              <a:t>inspect the dataset, frequency, trends, seasonality, missing values.</a:t>
            </a:r>
          </a:p>
          <a:p>
            <a:pPr marL="514350" indent="-514350">
              <a:buAutoNum type="arabicPeriod"/>
            </a:pPr>
            <a:r>
              <a:rPr lang="en-GB" b="1" dirty="0"/>
              <a:t>Data preparation: </a:t>
            </a:r>
            <a:r>
              <a:rPr lang="en-GB" dirty="0"/>
              <a:t>clean, reshape, and build a final time series dataset. </a:t>
            </a:r>
            <a:endParaRPr lang="en-GB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39BA5-2B95-6EF8-D781-F966AF02BA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4. Feature engineering: </a:t>
            </a:r>
            <a:r>
              <a:rPr lang="en-GB" dirty="0"/>
              <a:t>create lag features, calendar features…</a:t>
            </a:r>
          </a:p>
          <a:p>
            <a:pPr marL="0" indent="0">
              <a:buNone/>
            </a:pPr>
            <a:r>
              <a:rPr lang="en-GB" b="1" dirty="0"/>
              <a:t>5. Modelling: </a:t>
            </a:r>
            <a:r>
              <a:rPr lang="en-GB" dirty="0"/>
              <a:t>train model families used in class (baselines, statistical, ML, neural)</a:t>
            </a:r>
          </a:p>
          <a:p>
            <a:pPr marL="0" indent="0">
              <a:buNone/>
            </a:pPr>
            <a:r>
              <a:rPr lang="en-GB" b="1" dirty="0"/>
              <a:t>6. Evaluation: </a:t>
            </a:r>
            <a:r>
              <a:rPr lang="en-GB" dirty="0"/>
              <a:t>time-based validation/test split, metrics and plots. </a:t>
            </a:r>
          </a:p>
          <a:p>
            <a:pPr marL="0" indent="0">
              <a:buNone/>
            </a:pPr>
            <a:r>
              <a:rPr lang="en-GB" b="1" dirty="0"/>
              <a:t>7. Output: </a:t>
            </a:r>
            <a:r>
              <a:rPr lang="en-GB" dirty="0"/>
              <a:t>forecast January 2026, export predictions, save metrics for reporting.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0711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EC75C-166F-736B-9B32-DF2AA2C9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Dataset Info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E3B8DF-AD8C-70CC-B696-908F4D13A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Source:</a:t>
            </a:r>
            <a:r>
              <a:rPr lang="en-GB" b="1" dirty="0"/>
              <a:t> </a:t>
            </a:r>
            <a:r>
              <a:rPr lang="en-GB" dirty="0"/>
              <a:t>Spanish Electric Network (REE) </a:t>
            </a:r>
          </a:p>
          <a:p>
            <a:r>
              <a:rPr lang="en-GB" dirty="0"/>
              <a:t>Frequency: daily</a:t>
            </a:r>
          </a:p>
          <a:p>
            <a:r>
              <a:rPr lang="en-GB" dirty="0"/>
              <a:t>Target: electricity generation (GWh)</a:t>
            </a:r>
          </a:p>
          <a:p>
            <a:r>
              <a:rPr lang="en-GB" dirty="0"/>
              <a:t>Level: production technology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Focus:</a:t>
            </a:r>
          </a:p>
          <a:p>
            <a:r>
              <a:rPr lang="en-GB" dirty="0"/>
              <a:t>Top-7 technologies by average generation </a:t>
            </a:r>
          </a:p>
        </p:txBody>
      </p:sp>
    </p:spTree>
    <p:extLst>
      <p:ext uri="{BB962C8B-B14F-4D97-AF65-F5344CB8AC3E}">
        <p14:creationId xmlns:p14="http://schemas.microsoft.com/office/powerpoint/2010/main" val="131788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FAAFF-BAF5-FF57-1147-C6FB2D1C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Preparation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6C0B3E-617B-5959-6456-9D7C08B6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From Raw Data to Panel Dataset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Convert raw data to panel format:</a:t>
            </a:r>
          </a:p>
          <a:p>
            <a:pPr lvl="1"/>
            <a:r>
              <a:rPr lang="en-GB" b="1" dirty="0" err="1"/>
              <a:t>unique_id</a:t>
            </a:r>
            <a:r>
              <a:rPr lang="en-GB" b="1" dirty="0"/>
              <a:t>:</a:t>
            </a:r>
            <a:r>
              <a:rPr lang="en-GB" dirty="0"/>
              <a:t> technology</a:t>
            </a:r>
          </a:p>
          <a:p>
            <a:pPr lvl="1"/>
            <a:r>
              <a:rPr lang="en-GB" b="1" dirty="0"/>
              <a:t>ds: </a:t>
            </a:r>
            <a:r>
              <a:rPr lang="en-GB" dirty="0"/>
              <a:t>date</a:t>
            </a:r>
          </a:p>
          <a:p>
            <a:pPr lvl="1"/>
            <a:r>
              <a:rPr lang="en-GB" b="1" dirty="0"/>
              <a:t>y: </a:t>
            </a:r>
            <a:r>
              <a:rPr lang="en-GB" dirty="0"/>
              <a:t>daily generation </a:t>
            </a:r>
            <a:r>
              <a:rPr lang="en-GB" b="1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Clean dates and numeric values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Ensures complete daily calendar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Validate and handle missing days</a:t>
            </a:r>
          </a:p>
          <a:p>
            <a:pPr marL="914400" lvl="2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38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0B8F3-0CD4-9CA2-2B32-6AD32D18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 Families Tested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58AE76-16F3-9322-3513-6AC62BEFCF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/>
              <a:t>Baselines:</a:t>
            </a:r>
          </a:p>
          <a:p>
            <a:pPr lvl="1"/>
            <a:r>
              <a:rPr lang="en-GB" dirty="0"/>
              <a:t>Naive </a:t>
            </a:r>
          </a:p>
          <a:p>
            <a:pPr lvl="1"/>
            <a:r>
              <a:rPr lang="en-GB" dirty="0"/>
              <a:t>Moving average</a:t>
            </a:r>
          </a:p>
          <a:p>
            <a:r>
              <a:rPr lang="en-GB" b="1" dirty="0"/>
              <a:t>Statistical:</a:t>
            </a:r>
          </a:p>
          <a:p>
            <a:pPr lvl="1"/>
            <a:r>
              <a:rPr lang="en-GB" dirty="0" err="1"/>
              <a:t>AutoARIMA</a:t>
            </a:r>
            <a:endParaRPr lang="en-GB" dirty="0"/>
          </a:p>
          <a:p>
            <a:r>
              <a:rPr lang="en-GB" b="1" dirty="0"/>
              <a:t>Machine Learning:</a:t>
            </a:r>
          </a:p>
          <a:p>
            <a:pPr lvl="1"/>
            <a:r>
              <a:rPr lang="en-GB" dirty="0"/>
              <a:t>Random Forest</a:t>
            </a:r>
          </a:p>
          <a:p>
            <a:pPr lvl="1"/>
            <a:r>
              <a:rPr lang="en-GB" dirty="0"/>
              <a:t>Gradient Boosting</a:t>
            </a:r>
          </a:p>
          <a:p>
            <a:pPr lvl="1"/>
            <a:r>
              <a:rPr lang="en-GB" dirty="0"/>
              <a:t>Lag, calendar &amp; rolling features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E12D95-E880-5C96-778D-FF051D5DB3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Deep Learning:</a:t>
            </a:r>
          </a:p>
          <a:p>
            <a:pPr lvl="1"/>
            <a:r>
              <a:rPr lang="en-GB" dirty="0"/>
              <a:t>NBEATS</a:t>
            </a:r>
          </a:p>
          <a:p>
            <a:pPr lvl="1"/>
            <a:r>
              <a:rPr lang="en-GB" dirty="0" err="1"/>
              <a:t>NLinear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206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EAD1E-807D-F7AC-1299-E225FB37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Evaluation Strategy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461081-B566-CA00-3287-9C6D1B1AC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Time-Based Evaluation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81A080-DD99-DEEB-E568-E981F2A942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No shuffling (time series CV)</a:t>
            </a:r>
          </a:p>
          <a:p>
            <a:r>
              <a:rPr lang="en-GB" dirty="0"/>
              <a:t>Split:</a:t>
            </a:r>
          </a:p>
          <a:p>
            <a:pPr lvl="1"/>
            <a:r>
              <a:rPr lang="en-GB" dirty="0"/>
              <a:t>Train </a:t>
            </a:r>
          </a:p>
          <a:p>
            <a:pPr lvl="1"/>
            <a:r>
              <a:rPr lang="en-GB" dirty="0"/>
              <a:t>Validation (H = 31 days)</a:t>
            </a:r>
          </a:p>
          <a:p>
            <a:pPr lvl="1"/>
            <a:r>
              <a:rPr lang="en-GB" dirty="0"/>
              <a:t>Test (H = 31 days)</a:t>
            </a:r>
          </a:p>
          <a:p>
            <a:r>
              <a:rPr lang="en-GB" dirty="0"/>
              <a:t>Metrics:</a:t>
            </a:r>
          </a:p>
          <a:p>
            <a:pPr lvl="1"/>
            <a:r>
              <a:rPr lang="en-GB" dirty="0"/>
              <a:t>MAPE</a:t>
            </a:r>
          </a:p>
          <a:p>
            <a:pPr lvl="1"/>
            <a:r>
              <a:rPr lang="en-GB" dirty="0"/>
              <a:t>MAE</a:t>
            </a:r>
          </a:p>
          <a:p>
            <a:pPr lvl="1"/>
            <a:r>
              <a:rPr lang="en-GB" dirty="0"/>
              <a:t>RMSE</a:t>
            </a:r>
          </a:p>
          <a:p>
            <a:pPr lvl="1"/>
            <a:r>
              <a:rPr lang="en-GB" dirty="0"/>
              <a:t>OPE</a:t>
            </a:r>
          </a:p>
          <a:p>
            <a:pPr lvl="1"/>
            <a:r>
              <a:rPr lang="en-GB" dirty="0"/>
              <a:t>R2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F28E473-FCCF-5323-3DF6-8E55FA8E6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Model Selection 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8FE6A7-C412-2D95-92DF-9D75CA5DE8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Best MAE on validation </a:t>
            </a:r>
          </a:p>
          <a:p>
            <a:r>
              <a:rPr lang="en-GB" dirty="0"/>
              <a:t>Baselines excluded from final forecast</a:t>
            </a:r>
          </a:p>
        </p:txBody>
      </p:sp>
    </p:spTree>
    <p:extLst>
      <p:ext uri="{BB962C8B-B14F-4D97-AF65-F5344CB8AC3E}">
        <p14:creationId xmlns:p14="http://schemas.microsoft.com/office/powerpoint/2010/main" val="8478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A39E2-F78C-1BA0-D34B-1BFB19A4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Results &amp; Forecast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BEF5E2-BEF8-4AC4-F1B8-B88BDEA14B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January 2026 Forecast</a:t>
            </a:r>
          </a:p>
          <a:p>
            <a:r>
              <a:rPr lang="en-GB" dirty="0"/>
              <a:t>Best overall model selected across technologies </a:t>
            </a:r>
          </a:p>
          <a:p>
            <a:r>
              <a:rPr lang="en-GB" dirty="0"/>
              <a:t>Daily forecast for Jan 2026</a:t>
            </a:r>
          </a:p>
          <a:p>
            <a:r>
              <a:rPr lang="en-GB" dirty="0"/>
              <a:t>Outputs: </a:t>
            </a:r>
          </a:p>
          <a:p>
            <a:pPr lvl="1"/>
            <a:r>
              <a:rPr lang="en-GB" dirty="0"/>
              <a:t>CSV (and Parquet if available)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6FBDE1-4D02-C29F-AF06-FAEC019CB0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Uncertainty</a:t>
            </a:r>
          </a:p>
          <a:p>
            <a:r>
              <a:rPr lang="en-GB" dirty="0"/>
              <a:t>Empirical prediction intervals </a:t>
            </a:r>
          </a:p>
          <a:p>
            <a:r>
              <a:rPr lang="en-GB" dirty="0"/>
              <a:t>Based on validation residual quantiles (95%)</a:t>
            </a:r>
          </a:p>
        </p:txBody>
      </p:sp>
    </p:spTree>
    <p:extLst>
      <p:ext uri="{BB962C8B-B14F-4D97-AF65-F5344CB8AC3E}">
        <p14:creationId xmlns:p14="http://schemas.microsoft.com/office/powerpoint/2010/main" val="368983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D2313-E4F2-A92B-B35C-58557159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Value &amp; Conclusion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105F7-D478-7E13-EDE7-CCB821749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Value Generated: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Better planning of energy balance and reserves</a:t>
            </a:r>
          </a:p>
          <a:p>
            <a:pPr lvl="1"/>
            <a:r>
              <a:rPr lang="en-GB" dirty="0"/>
              <a:t>Improved risk-aware decision-making</a:t>
            </a:r>
          </a:p>
          <a:p>
            <a:pPr lvl="1"/>
            <a:r>
              <a:rPr lang="en-GB" dirty="0"/>
              <a:t>Useful even with uncertainty</a:t>
            </a:r>
          </a:p>
          <a:p>
            <a:r>
              <a:rPr lang="en-GB" b="1" dirty="0"/>
              <a:t>Conclusion: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42163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427</Words>
  <Application>Microsoft Office PowerPoint</Application>
  <PresentationFormat>Panorámica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Forecasting Daily Electricity Generation in Spain </vt:lpstr>
      <vt:lpstr>Team &amp; Contributions. </vt:lpstr>
      <vt:lpstr>Business Problem </vt:lpstr>
      <vt:lpstr>Why Forecasting Matters?</vt:lpstr>
      <vt:lpstr>Solution Overview </vt:lpstr>
      <vt:lpstr>Dataset Info</vt:lpstr>
      <vt:lpstr>Data Preparation</vt:lpstr>
      <vt:lpstr>Model Families Tested </vt:lpstr>
      <vt:lpstr>Evaluation Strategy</vt:lpstr>
      <vt:lpstr>Results &amp; Forecast</vt:lpstr>
      <vt:lpstr>Value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MIREIA MONTOYA BUENDIA</dc:creator>
  <cp:lastModifiedBy>Enrique Ruiz Gallego</cp:lastModifiedBy>
  <cp:revision>3</cp:revision>
  <dcterms:created xsi:type="dcterms:W3CDTF">2025-12-29T20:01:16Z</dcterms:created>
  <dcterms:modified xsi:type="dcterms:W3CDTF">2025-12-31T19:39:45Z</dcterms:modified>
</cp:coreProperties>
</file>