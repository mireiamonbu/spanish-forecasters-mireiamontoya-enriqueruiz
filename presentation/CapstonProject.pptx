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48" d="100"/>
          <a:sy n="48" d="100"/>
        </p:scale>
        <p:origin x="67" y="7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209506-3838-B9DB-188B-B8BE9E2A7C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49EBE80-7670-9D2E-FC3C-B9FFA95AEC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EDE5C56-0F12-F54E-40B6-FD2368986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29/12/2025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E060621-99F8-F273-1B65-AA4552207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11626BE-93BE-C335-33A8-7EE91105C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9613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E1F159-547A-C66A-18E8-6F4DA66A6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D234C59-4348-1C7E-D6E1-F5995C7BC6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51C34EB-8ED9-0B92-9D18-646FED6A9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29/12/2025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4B4143A-699B-D2D4-F9D8-98EA00634C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FF64A5B-F057-1899-33BC-1B53F259DE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5038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1D57EE-2E3F-78B0-C115-5F6B00E7A8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383BE68-EA12-38E8-1E4F-9B906A1F89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D756A73-7A9E-615C-6393-E6F6B88A26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29/12/2025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52F6152-8900-D706-E3F5-116E7A8D1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02715DD-320C-A4FE-63B8-589A02B99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84066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043E64-F6DB-D5F8-E62F-D828C46E8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D34E4DC-6D8D-AB32-41FD-C986762CD8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CCA2DB3-9C66-A462-C308-7A57B2B2D5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B7D6BD7-228D-FDC4-6D08-0BC706FC8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29/12/2025</a:t>
            </a:fld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12D4964-4F1C-A423-62F2-7675CEAE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D4312AD-4BAC-5F28-F2C5-10F30E8B8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59607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443854-2205-9A89-94B1-E2B3B1AFA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35DFAB7-4FA7-82F3-63A9-9B26FE696A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E3DCFC8-F4AB-47D7-B2A0-226810AE78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D37CAE76-6EC0-6008-9490-8FF73C1958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116259B5-7F36-34A1-06FA-7D1DE6C728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CA474E61-B68B-5649-E561-D569B41B8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29/12/2025</a:t>
            </a:fld>
            <a:endParaRPr lang="en-GB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4B234976-B882-B362-B26D-F31B0A951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4DB288CD-90E0-C4E4-9362-DB1FB5D1B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28253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7A92CF-E4EF-8BBA-3465-523BF9B0D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51818A9-EF49-0344-8F5D-CA5117FCC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29/12/2025</a:t>
            </a:fld>
            <a:endParaRPr lang="en-GB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8F37F25-AB01-F98C-49D0-116288929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D68BFA8D-6275-C768-C272-DC312DE70B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15677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44A8BE2F-EA2A-F9DC-41D2-3D9CB443A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29/12/2025</a:t>
            </a:fld>
            <a:endParaRPr lang="en-GB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9CCB02A-9BAD-D423-2697-D7E4709F3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25DDD53-8988-3C7C-5FEB-72A33A043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807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08BB546-D01A-B38A-A790-48B4ABE832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DFF7326-5813-04DD-8B79-A2F881B3CF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41DBCF5-B24A-5729-23C9-4C9CE1B935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EEF1A4E-3229-6801-C2E9-B1665DC847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29/12/2025</a:t>
            </a:fld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18A5267-B0B9-E96E-D78D-318AA2919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1A92FB9-3E1F-73CD-B936-20261FDE3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4916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08A1B9D-2C86-9FC6-F102-313C977048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213897A5-67E4-D7AB-ED5F-6387B6E6D1B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D16A3F8-9FC0-7943-EC27-BC0A509916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60576D6-3D91-32FB-C361-E471CB246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29/12/2025</a:t>
            </a:fld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5F3E50A-1685-73FB-C5BA-60DE22D78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46578C0-48BD-AA93-DED8-1958C6640D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96402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FD519A9-5DAF-D3DB-6236-187CF0D98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529126A-884E-87A2-5CA1-7928837950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C99097E-3281-2462-D25B-E891975668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29/12/2025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B0EDF42-1CA7-1AF5-3248-FDC5AE7CF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844F1EC-F5EA-612D-59F1-1B0C3D162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165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06FB9EE-5829-E22A-C847-3BEC8A0A4C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EF8E8BAF-7D7C-3A47-707A-C9D6695EEE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CD6F70E-2C61-765D-465B-08247568A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29/12/2025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80D1A55-3FDD-1EC1-6463-7EEC4E2D7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C5BCDF0-E29E-1077-77AD-BBCE5E4B4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5986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85D735E-226F-673D-B258-56093EAB7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D30E5BD-52FD-8D85-38BA-2D2A03F092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43A931E-B444-A338-D0C0-7BCDB996E8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BFD437-33C7-4B24-B6C7-F91A3EACF5E2}" type="datetimeFigureOut">
              <a:rPr lang="en-GB" smtClean="0"/>
              <a:t>29/12/2025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B97DB7D-B08A-BA8A-D9BD-3CE0CF1D42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8D3497B-F224-1D0F-B100-A776D691DD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02499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4817C8-D649-CE1A-DBBC-856DA9F6E2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Capston</a:t>
            </a:r>
            <a:r>
              <a:rPr lang="en-GB" dirty="0"/>
              <a:t> Project: 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7C307ED-4B8A-8525-E6FF-511BA5EF6E7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GB"/>
              <a:t>Spanish Forecast</a:t>
            </a:r>
            <a:endParaRPr lang="en-GB" dirty="0"/>
          </a:p>
          <a:p>
            <a:r>
              <a:rPr lang="en-GB" dirty="0"/>
              <a:t>Time Series Analysis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81777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7C6E7F-E335-FF39-BC2D-8AD08573E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Team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9F21CB2-11F2-98CB-E598-0E906090B73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Enrique Ruiz:</a:t>
            </a:r>
          </a:p>
          <a:p>
            <a:pPr lvl="1"/>
            <a:r>
              <a:rPr lang="en-GB" dirty="0"/>
              <a:t>Main Coding</a:t>
            </a:r>
          </a:p>
          <a:p>
            <a:pPr lvl="1"/>
            <a:r>
              <a:rPr lang="en-GB" dirty="0"/>
              <a:t>Data parsing/cleaning</a:t>
            </a:r>
          </a:p>
          <a:p>
            <a:pPr lvl="1"/>
            <a:r>
              <a:rPr lang="en-GB" dirty="0"/>
              <a:t>Modelling </a:t>
            </a:r>
          </a:p>
          <a:p>
            <a:pPr lvl="1"/>
            <a:r>
              <a:rPr lang="en-GB" dirty="0"/>
              <a:t>Evaluation </a:t>
            </a:r>
          </a:p>
          <a:p>
            <a:pPr lvl="1"/>
            <a:r>
              <a:rPr lang="en-GB" dirty="0"/>
              <a:t>Plots</a:t>
            </a:r>
          </a:p>
          <a:p>
            <a:pPr lvl="1"/>
            <a:r>
              <a:rPr lang="en-GB" dirty="0"/>
              <a:t>Final </a:t>
            </a:r>
          </a:p>
          <a:p>
            <a:endParaRPr lang="en-GB" dirty="0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CD08206-EE7A-3E02-0120-39AE8E2E906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dirty="0"/>
              <a:t>Mireia Montoya:</a:t>
            </a:r>
          </a:p>
          <a:p>
            <a:pPr lvl="1"/>
            <a:r>
              <a:rPr lang="en-GB" dirty="0"/>
              <a:t>Documentation support </a:t>
            </a:r>
          </a:p>
          <a:p>
            <a:pPr lvl="1"/>
            <a:r>
              <a:rPr lang="en-GB" dirty="0"/>
              <a:t>Slide deck</a:t>
            </a:r>
          </a:p>
          <a:p>
            <a:pPr lvl="1"/>
            <a:r>
              <a:rPr lang="en-GB" dirty="0"/>
              <a:t>Interpretation of results</a:t>
            </a:r>
          </a:p>
          <a:p>
            <a:pPr lvl="1"/>
            <a:r>
              <a:rPr lang="en-GB" dirty="0"/>
              <a:t>Business value</a:t>
            </a:r>
          </a:p>
          <a:p>
            <a:pPr lvl="1"/>
            <a:r>
              <a:rPr lang="en-GB" dirty="0"/>
              <a:t>Presentation speaking roles</a:t>
            </a:r>
          </a:p>
        </p:txBody>
      </p:sp>
    </p:spTree>
    <p:extLst>
      <p:ext uri="{BB962C8B-B14F-4D97-AF65-F5344CB8AC3E}">
        <p14:creationId xmlns:p14="http://schemas.microsoft.com/office/powerpoint/2010/main" val="21497757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2C3630-63D1-4ABA-5E90-228527877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736767"/>
            <a:ext cx="3932237" cy="501316"/>
          </a:xfrm>
        </p:spPr>
        <p:txBody>
          <a:bodyPr>
            <a:normAutofit fontScale="90000"/>
          </a:bodyPr>
          <a:lstStyle/>
          <a:p>
            <a:r>
              <a:rPr lang="en-GB" b="1" dirty="0"/>
              <a:t>Business Problem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BF114C0-C700-0A15-B440-C847219496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Plot from code prediction 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0F08160-F46B-2EA8-0115-2429FF46C6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363580"/>
            <a:ext cx="3932237" cy="3994484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Goal: </a:t>
            </a:r>
            <a:r>
              <a:rPr lang="en-GB" dirty="0"/>
              <a:t>Forecast daily electricity generation for Spain by production technology (top technologies) for January 2026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Why it matters: </a:t>
            </a:r>
            <a:r>
              <a:rPr lang="en-GB" dirty="0"/>
              <a:t>If we can predict generation more accurately, we can improve planning and reduce risk. Forecast help: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Operational planning (balancing supply)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Resource scheduling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Market decisions and risk management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And better preparation when uncertainty is high</a:t>
            </a:r>
          </a:p>
        </p:txBody>
      </p:sp>
    </p:spTree>
    <p:extLst>
      <p:ext uri="{BB962C8B-B14F-4D97-AF65-F5344CB8AC3E}">
        <p14:creationId xmlns:p14="http://schemas.microsoft.com/office/powerpoint/2010/main" val="19693952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A9E8B0-5780-1E83-BEA3-DA915D48DC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Solution Overview (CRISP-DM style)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894CECC-7894-ECB1-EB7F-3348F971579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514350" indent="-514350">
              <a:buAutoNum type="arabicPeriod"/>
            </a:pPr>
            <a:r>
              <a:rPr lang="en-GB" b="1" dirty="0"/>
              <a:t>Business understanding: </a:t>
            </a:r>
            <a:r>
              <a:rPr lang="en-GB" dirty="0"/>
              <a:t>define the forecasting goal and the value.</a:t>
            </a:r>
          </a:p>
          <a:p>
            <a:pPr marL="514350" indent="-514350">
              <a:buAutoNum type="arabicPeriod"/>
            </a:pPr>
            <a:r>
              <a:rPr lang="en-GB" b="1" dirty="0"/>
              <a:t>Data understanding: </a:t>
            </a:r>
            <a:r>
              <a:rPr lang="en-GB" dirty="0"/>
              <a:t>inspect the dataset, frequency, trends, seasonality, missing values.</a:t>
            </a:r>
          </a:p>
          <a:p>
            <a:pPr marL="514350" indent="-514350">
              <a:buAutoNum type="arabicPeriod"/>
            </a:pPr>
            <a:r>
              <a:rPr lang="en-GB" b="1" dirty="0"/>
              <a:t>Data preparation: </a:t>
            </a:r>
            <a:r>
              <a:rPr lang="en-GB" dirty="0"/>
              <a:t>clean, reshape, and build a final time series dataset. </a:t>
            </a:r>
            <a:endParaRPr lang="en-GB" b="1" dirty="0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6039BA5-2B95-6EF8-D781-F966AF02BAD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b="1" dirty="0"/>
              <a:t>4. Feature engineering: </a:t>
            </a:r>
            <a:r>
              <a:rPr lang="en-GB" dirty="0"/>
              <a:t>create lag features, calendar features…</a:t>
            </a:r>
          </a:p>
          <a:p>
            <a:pPr marL="0" indent="0">
              <a:buNone/>
            </a:pPr>
            <a:r>
              <a:rPr lang="en-GB" b="1" dirty="0"/>
              <a:t>5. Modelling: </a:t>
            </a:r>
            <a:r>
              <a:rPr lang="en-GB" dirty="0"/>
              <a:t>train model families used in class (baselines, statistical, ML, neural)</a:t>
            </a:r>
          </a:p>
          <a:p>
            <a:pPr marL="0" indent="0">
              <a:buNone/>
            </a:pPr>
            <a:r>
              <a:rPr lang="en-GB" b="1" dirty="0"/>
              <a:t>6. Evaluation: </a:t>
            </a:r>
            <a:r>
              <a:rPr lang="en-GB" dirty="0"/>
              <a:t>time-based validation/test split, metrics and plots. </a:t>
            </a:r>
          </a:p>
          <a:p>
            <a:pPr marL="0" indent="0">
              <a:buNone/>
            </a:pPr>
            <a:r>
              <a:rPr lang="en-GB" b="1" dirty="0"/>
              <a:t>7. Deployment output: </a:t>
            </a:r>
            <a:r>
              <a:rPr lang="en-GB" dirty="0"/>
              <a:t>forecast January 2026, export predictions, save metrics for reporting. 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15071183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CCA1F6-B7F6-4AA7-94BB-14C33D029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19976783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5EC75C-166F-736B-9B32-DF2AA2C90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Dataset Info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4E3B8DF-AD8C-70CC-B696-908F4D13A5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Data source: </a:t>
            </a:r>
            <a:r>
              <a:rPr lang="en-GB" dirty="0"/>
              <a:t>Spanish Electric Net (REE) </a:t>
            </a:r>
          </a:p>
          <a:p>
            <a:r>
              <a:rPr lang="en-GB" dirty="0"/>
              <a:t>Open, public, daily updated </a:t>
            </a:r>
          </a:p>
          <a:p>
            <a:r>
              <a:rPr lang="en-GB" dirty="0"/>
              <a:t>Target: electricity generation (GWh)</a:t>
            </a:r>
          </a:p>
          <a:p>
            <a:r>
              <a:rPr lang="en-GB" dirty="0"/>
              <a:t>Level: production technology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Focus:</a:t>
            </a:r>
          </a:p>
          <a:p>
            <a:r>
              <a:rPr lang="en-GB" dirty="0"/>
              <a:t>Top-7 technologies by average generation </a:t>
            </a:r>
          </a:p>
        </p:txBody>
      </p:sp>
    </p:spTree>
    <p:extLst>
      <p:ext uri="{BB962C8B-B14F-4D97-AF65-F5344CB8AC3E}">
        <p14:creationId xmlns:p14="http://schemas.microsoft.com/office/powerpoint/2010/main" val="13178891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E0FAAFF-BAF5-FF57-1147-C6FB2D1C4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Insight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46C0B3E-617B-5959-6456-9D7C08B649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4638797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252</Words>
  <Application>Microsoft Office PowerPoint</Application>
  <PresentationFormat>Panorámica</PresentationFormat>
  <Paragraphs>43</Paragraphs>
  <Slides>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Tema de Office</vt:lpstr>
      <vt:lpstr>Capston Project: </vt:lpstr>
      <vt:lpstr>Team</vt:lpstr>
      <vt:lpstr>Business Problem </vt:lpstr>
      <vt:lpstr>Solution Overview (CRISP-DM style)</vt:lpstr>
      <vt:lpstr>Outputs</vt:lpstr>
      <vt:lpstr>Dataset Info</vt:lpstr>
      <vt:lpstr>Data Insight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MIREIA MONTOYA BUENDIA</dc:creator>
  <cp:lastModifiedBy>MIREIA MONTOYA BUENDIA</cp:lastModifiedBy>
  <cp:revision>1</cp:revision>
  <dcterms:created xsi:type="dcterms:W3CDTF">2025-12-29T20:01:16Z</dcterms:created>
  <dcterms:modified xsi:type="dcterms:W3CDTF">2025-12-29T21:16:13Z</dcterms:modified>
</cp:coreProperties>
</file>